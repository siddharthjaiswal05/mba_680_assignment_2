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0fc897-0259-cd23-178a-f3d1e657b0f3}">
          <p14:sldIdLst>
            <p14:sldId id="256"/>
            <p14:sldId id="257"/>
          </p14:sldIdLst>
        </p14:section>
        <p14:section name="Findings" id="{1c6798e2-cccc-8f3c-9311-6d24477962fe}">
          <p14:sldIdLst>
            <p14:sldId id="258"/>
            <p14:sldId id="259"/>
            <p14:sldId id="260"/>
            <p14:sldId id="261"/>
            <p14:sldId id="262"/>
          </p14:sldIdLst>
        </p14:section>
        <p14:section name="Results" id="{e2a862a1-74a4-7e3c-e96c-40c8708f2685}">
          <p14:sldIdLst>
            <p14:sldId id="263"/>
            <p14:sldId id="264"/>
            <p14:sldId id="265"/>
            <p14:sldId id="266"/>
            <p14:sldId id="267"/>
            <p14:sldId id="268"/>
            <p14:sldId id="269"/>
          </p14:sldIdLst>
        </p14:section>
        <p14:section name="Close" id="{2aaaee8e-3647-a05d-5ee0-b5c49949f984}">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 Investment Advisor and Robo-Advisory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1: the risk ladder cannot measure risk aversion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2: loss aversion is not identified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3: V1, V2 and V3 are one question asked three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the two usable utility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value functions, with one uncomfortable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how much to believe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the recommendation, and why it is the same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personality changes the process, not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missing, and the four questions that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robo-advisory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would say to the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58368" y="2148840"/>
            <a:ext cx="9774936" cy="1737360"/>
          </a:xfrm>
          <a:prstGeom prst="rect">
            <a:avLst/>
          </a:prstGeom>
          <a:noFill/>
          <a:ln/>
        </p:spPr>
        <p:txBody>
          <a:bodyPr wrap="square" rtlCol="0"/>
          <a:lstStyle>
            <a:lvl1pPr indent="0" marL="0">
              <a:buNone/>
              <a:defRPr lang="en-US" sz="4000" b="1" dirty="0">
                <a:solidFill>
                  <a:srgbClr val="FFFFFF"/>
                </a:solidFill>
              </a:defRPr>
            </a:lvl1pPr>
          </a:lstStyle>
          <a:p>
            <a:pPr indent="0" marL="0">
              <a:buNone/>
            </a:pPr>
            <a:endParaRPr lang="en-US" sz="4000" dirty="0"/>
          </a:p>
        </p:txBody>
      </p:sp>
      <p:sp>
        <p:nvSpPr>
          <p:cNvPr id="3" name="Text 0"/>
          <p:cNvSpPr/>
          <p:nvPr>
            <p:ph idx="101" type="body" hasCustomPrompt="1"/>
          </p:nvPr>
        </p:nvSpPr>
        <p:spPr>
          <a:xfrm>
            <a:off x="658368" y="4069080"/>
            <a:ext cx="8677656" cy="1737360"/>
          </a:xfrm>
          <a:prstGeom prst="rect">
            <a:avLst/>
          </a:prstGeom>
          <a:noFill/>
          <a:ln/>
        </p:spPr>
        <p:txBody>
          <a:bodyPr wrap="square" rtlCol="0"/>
          <a:lstStyle>
            <a:lvl1pPr indent="0" marL="0">
              <a:buNone/>
              <a:defRPr lang="en-US" sz="1500" dirty="0">
                <a:solidFill>
                  <a:srgbClr val="CADCFC"/>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lstStyle>
            <a:lvl1pPr indent="0" marL="0">
              <a:buNone/>
              <a:defRPr lang="en-US" sz="3000" b="1" dirty="0">
                <a:solidFill>
                  <a:srgbClr val="1E2761"/>
                </a:solidFill>
              </a:defRPr>
            </a:lvl1pPr>
          </a:lstStyle>
          <a:p>
            <a:pPr indent="0" marL="0">
              <a:buNone/>
            </a:pPr>
            <a:endParaRPr lang="en-US" sz="3000" dirty="0"/>
          </a:p>
        </p:txBody>
      </p:sp>
      <p:sp>
        <p:nvSpPr>
          <p:cNvPr id="3" name="Text 0"/>
          <p:cNvSpPr txBox="1"/>
          <p:nvPr/>
        </p:nvSpPr>
        <p:spPr>
          <a:xfrm>
            <a:off x="658368" y="6382512"/>
            <a:ext cx="5486400" cy="274320"/>
          </a:xfrm>
          <a:prstGeom prst="rect">
            <a:avLst/>
          </a:prstGeom>
          <a:noFill/>
          <a:ln/>
        </p:spPr>
        <p:txBody>
          <a:bodyPr wrap="square" lIns="0" tIns="0" rIns="0" bIns="0" rtlCol="0" anchor="ctr"/>
          <a:lstStyle/>
          <a:p>
            <a:pPr indent="0" marL="0">
              <a:buNone/>
            </a:pPr>
            <a:r>
              <a:rPr lang="en-US" sz="1000" dirty="0">
                <a:solidFill>
                  <a:srgbClr val="8A93A8"/>
                </a:solidFill>
              </a:rPr>
              <a:t>MBA680 Behavioral Finance  |  Problem Statement 2</a:t>
            </a:r>
            <a:endParaRPr lang="en-US" sz="1000" dirty="0"/>
          </a:p>
        </p:txBody>
      </p:sp>
      <p:sp>
        <p:nvSpPr>
          <p:cNvPr id="4" name="Text 1"/>
          <p:cNvSpPr/>
          <p:nvPr>
            <p:ph idx="102" hasCustomPrompt="1"/>
          </p:nvPr>
        </p:nvSpPr>
        <p:spPr>
          <a:xfrm>
            <a:off x="10981944" y="6382512"/>
            <a:ext cx="548640" cy="274320"/>
          </a:xfrm>
          <a:prstGeom prst="rect">
            <a:avLst/>
          </a:prstGeom>
          <a:noFill/>
          <a:ln/>
        </p:spPr>
        <p:txBody>
          <a:bodyPr wrap="square" rtlCol="0"/>
          <a:lstStyle>
            <a:lvl1pPr algn="r" indent="0" marL="0">
              <a:buNone/>
              <a:defRPr lang="en-US" sz="1000" dirty="0">
                <a:solidFill>
                  <a:srgbClr val="8A93A8"/>
                </a:solidFill>
              </a:defRPr>
            </a:lvl1pPr>
          </a:lstStyle>
          <a:p>
            <a:pPr algn="r" indent="0" marL="0">
              <a:buNone/>
            </a:pP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6F8F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lstStyle>
            <a:lvl1pPr indent="0" marL="0">
              <a:buNone/>
              <a:defRPr lang="en-US" sz="3000" b="1" dirty="0">
                <a:solidFill>
                  <a:srgbClr val="1E2761"/>
                </a:solidFill>
              </a:defRPr>
            </a:lvl1pPr>
          </a:lstStyle>
          <a:p>
            <a:pPr indent="0" marL="0">
              <a:buNone/>
            </a:pPr>
            <a:endParaRPr lang="en-US" sz="3000" dirty="0"/>
          </a:p>
        </p:txBody>
      </p:sp>
      <p:sp>
        <p:nvSpPr>
          <p:cNvPr id="3" name="Text 0"/>
          <p:cNvSpPr txBox="1"/>
          <p:nvPr/>
        </p:nvSpPr>
        <p:spPr>
          <a:xfrm>
            <a:off x="658368" y="6382512"/>
            <a:ext cx="5486400" cy="274320"/>
          </a:xfrm>
          <a:prstGeom prst="rect">
            <a:avLst/>
          </a:prstGeom>
          <a:noFill/>
          <a:ln/>
        </p:spPr>
        <p:txBody>
          <a:bodyPr wrap="square" lIns="0" tIns="0" rIns="0" bIns="0" rtlCol="0" anchor="ctr"/>
          <a:lstStyle/>
          <a:p>
            <a:pPr indent="0" marL="0">
              <a:buNone/>
            </a:pPr>
            <a:r>
              <a:rPr lang="en-US" sz="1000" dirty="0">
                <a:solidFill>
                  <a:srgbClr val="8A93A8"/>
                </a:solidFill>
              </a:rPr>
              <a:t>MBA680 Behavioral Finance  |  Problem Statement 2</a:t>
            </a:r>
            <a:endParaRPr lang="en-US" sz="1000" dirty="0"/>
          </a:p>
        </p:txBody>
      </p:sp>
      <p:sp>
        <p:nvSpPr>
          <p:cNvPr id="4" name="Text 1"/>
          <p:cNvSpPr/>
          <p:nvPr>
            <p:ph idx="102" hasCustomPrompt="1"/>
          </p:nvPr>
        </p:nvSpPr>
        <p:spPr>
          <a:xfrm>
            <a:off x="10981944" y="6382512"/>
            <a:ext cx="548640" cy="274320"/>
          </a:xfrm>
          <a:prstGeom prst="rect">
            <a:avLst/>
          </a:prstGeom>
          <a:noFill/>
          <a:ln/>
        </p:spPr>
        <p:txBody>
          <a:bodyPr wrap="square" rtlCol="0"/>
          <a:lstStyle>
            <a:lvl1pPr algn="r" indent="0" marL="0">
              <a:buNone/>
              <a:defRPr lang="en-US" sz="1000" dirty="0">
                <a:solidFill>
                  <a:srgbClr val="8A93A8"/>
                </a:solidFill>
              </a:defRPr>
            </a:lvl1pPr>
          </a:lstStyle>
          <a:p>
            <a:pPr algn="r" indent="0" marL="0">
              <a:buNone/>
            </a:pP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 y="1417320"/>
            <a:ext cx="10872216" cy="310896"/>
          </a:xfrm>
          <a:prstGeom prst="rect">
            <a:avLst/>
          </a:prstGeom>
          <a:noFill/>
          <a:ln/>
        </p:spPr>
        <p:txBody>
          <a:bodyPr wrap="square" lIns="0" tIns="0" rIns="0" bIns="0" rtlCol="0" anchor="ctr"/>
          <a:lstStyle/>
          <a:p>
            <a:pPr indent="0" marL="0">
              <a:buNone/>
            </a:pPr>
            <a:r>
              <a:rPr lang="en-US" sz="1300" b="1" spc="240" kern="0" dirty="0">
                <a:solidFill>
                  <a:srgbClr val="E9A13B"/>
                </a:solidFill>
              </a:rPr>
              <a:t>MBA680  |  BEHAVIORAL FINANCE</a:t>
            </a:r>
            <a:endParaRPr lang="en-US" sz="1300" dirty="0"/>
          </a:p>
        </p:txBody>
      </p:sp>
      <p:sp>
        <p:nvSpPr>
          <p:cNvPr id="3" name="Text 0"/>
          <p:cNvSpPr/>
          <p:nvPr>
            <p:ph idx="100" type="title" hasCustomPrompt="1"/>
          </p:nvPr>
        </p:nvSpPr>
        <p:spPr>
          <a:xfrm>
            <a:off x="658368" y="2148840"/>
            <a:ext cx="9774936" cy="1737360"/>
          </a:xfrm>
          <a:prstGeom prst="rect">
            <a:avLst/>
          </a:prstGeom>
          <a:noFill/>
          <a:ln/>
        </p:spPr>
        <p:txBody>
          <a:bodyPr wrap="square" rtlCol="0" anchor="b"/>
          <a:lstStyle/>
          <a:p>
            <a:pPr indent="0" marL="0">
              <a:buNone/>
            </a:pPr>
            <a:r>
              <a:rPr lang="en-US" sz="4000" b="1" dirty="0">
                <a:solidFill>
                  <a:srgbClr val="FFFFFF"/>
                </a:solidFill>
              </a:rPr>
              <a:t>Personal Investment Advisor and Robo-Advisory Design</a:t>
            </a:r>
            <a:endParaRPr lang="en-US" sz="4000" dirty="0"/>
          </a:p>
        </p:txBody>
      </p:sp>
      <p:sp>
        <p:nvSpPr>
          <p:cNvPr id="4" name="Text 2"/>
          <p:cNvSpPr txBox="1"/>
          <p:nvPr/>
        </p:nvSpPr>
        <p:spPr>
          <a:xfrm>
            <a:off x="658368" y="4023360"/>
            <a:ext cx="7763256" cy="457200"/>
          </a:xfrm>
          <a:prstGeom prst="rect">
            <a:avLst/>
          </a:prstGeom>
          <a:noFill/>
          <a:ln/>
        </p:spPr>
        <p:txBody>
          <a:bodyPr wrap="square" lIns="0" tIns="0" rIns="0" bIns="0" rtlCol="0" anchor="ctr"/>
          <a:lstStyle/>
          <a:p>
            <a:pPr indent="0" marL="0">
              <a:buNone/>
            </a:pPr>
            <a:r>
              <a:rPr lang="en-US" sz="1700" i="1" dirty="0">
                <a:solidFill>
                  <a:srgbClr val="CADCFC"/>
                </a:solidFill>
              </a:rPr>
              <a:t>What four classmates told us, and what their answers could not tell us</a:t>
            </a:r>
            <a:endParaRPr lang="en-US" sz="1700" dirty="0"/>
          </a:p>
        </p:txBody>
      </p:sp>
      <p:sp>
        <p:nvSpPr>
          <p:cNvPr id="5" name="Text 3"/>
          <p:cNvSpPr txBox="1"/>
          <p:nvPr/>
        </p:nvSpPr>
        <p:spPr>
          <a:xfrm>
            <a:off x="658368" y="4800600"/>
            <a:ext cx="10872216" cy="310896"/>
          </a:xfrm>
          <a:prstGeom prst="rect">
            <a:avLst/>
          </a:prstGeom>
          <a:noFill/>
          <a:ln/>
        </p:spPr>
        <p:txBody>
          <a:bodyPr wrap="square" lIns="0" tIns="0" rIns="0" bIns="0" rtlCol="0" anchor="ctr"/>
          <a:lstStyle/>
          <a:p>
            <a:pPr indent="0" marL="0">
              <a:buNone/>
            </a:pPr>
            <a:r>
              <a:rPr lang="en-US" sz="1250" dirty="0">
                <a:solidFill>
                  <a:srgbClr val="8A93A8"/>
                </a:solidFill>
              </a:rPr>
              <a:t>MBA680 Behavioral Finance  |  Problem Statement 2  |  Steps 1 to 6</a:t>
            </a:r>
            <a:endParaRPr lang="en-US" sz="1250" dirty="0"/>
          </a:p>
        </p:txBody>
      </p:sp>
      <p:sp>
        <p:nvSpPr>
          <p:cNvPr id="6" name="Text 4"/>
          <p:cNvSpPr txBox="1"/>
          <p:nvPr/>
        </p:nvSpPr>
        <p:spPr>
          <a:xfrm>
            <a:off x="658368" y="5486400"/>
            <a:ext cx="10872216" cy="347472"/>
          </a:xfrm>
          <a:prstGeom prst="rect">
            <a:avLst/>
          </a:prstGeom>
          <a:noFill/>
          <a:ln/>
        </p:spPr>
        <p:txBody>
          <a:bodyPr wrap="square" lIns="0" tIns="0" rIns="0" bIns="0" rtlCol="0" anchor="ctr"/>
          <a:lstStyle/>
          <a:p>
            <a:pPr indent="0" marL="0">
              <a:buNone/>
            </a:pPr>
            <a:r>
              <a:rPr lang="en-US" sz="1450" b="1" dirty="0">
                <a:solidFill>
                  <a:srgbClr val="FFFFFF"/>
                </a:solidFill>
              </a:rPr>
              <a:t>Abhinav Raj      Raghav Patidar      Shubham Raj      Siddharth Jaiswal</a:t>
            </a:r>
            <a:endParaRPr lang="en-US" sz="1450" dirty="0"/>
          </a:p>
        </p:txBody>
      </p:sp>
      <p:sp>
        <p:nvSpPr>
          <p:cNvPr id="7" name="Text 5"/>
          <p:cNvSpPr txBox="1"/>
          <p:nvPr/>
        </p:nvSpPr>
        <p:spPr>
          <a:xfrm>
            <a:off x="658368" y="5907024"/>
            <a:ext cx="10872216" cy="274320"/>
          </a:xfrm>
          <a:prstGeom prst="rect">
            <a:avLst/>
          </a:prstGeom>
          <a:noFill/>
          <a:ln/>
        </p:spPr>
        <p:txBody>
          <a:bodyPr wrap="square" lIns="0" tIns="0" rIns="0" bIns="0" rtlCol="0" anchor="ctr"/>
          <a:lstStyle/>
          <a:p>
            <a:pPr indent="0" marL="0">
              <a:buNone/>
            </a:pPr>
            <a:r>
              <a:rPr lang="en-US" sz="1150" dirty="0">
                <a:solidFill>
                  <a:srgbClr val="8A93A8"/>
                </a:solidFill>
              </a:rPr>
              <a:t>Indian Institute of Technology Kanpur</a:t>
            </a:r>
            <a:endParaRPr lang="en-US" sz="1150" dirty="0"/>
          </a:p>
        </p:txBody>
      </p:sp>
      <p:sp>
        <p:nvSpPr>
          <p:cNvPr id="9" name="Text 0"/>
          <p:cNvSpPr/>
          <p:nvPr>
            <p:ph idx="101" type="body" hasCustomPrompt="1"/>
          </p:nvPr>
        </p:nvSpPr>
        <p:spPr>
          <a:xfrm>
            <a:off x="658368" y="4069080"/>
            <a:ext cx="8677656" cy="1737360"/>
          </a:xfrm>
          <a:prstGeom prst="rect">
            <a:avLst/>
          </a:prstGeom>
          <a:noFill/>
          <a:ln/>
        </p:spPr>
        <p:txBody>
          <a:bodyPr wrap="square" rtlCol="0" anchor="t"/>
          <a:lstStyle/>
          <a:p>
            <a:pPr indent="0" marL="0">
              <a:buNone/>
            </a:pP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58368" y="1234440"/>
            <a:ext cx="10872216" cy="310896"/>
          </a:xfrm>
          <a:prstGeom prst="rect">
            <a:avLst/>
          </a:prstGeom>
          <a:noFill/>
          <a:ln/>
        </p:spPr>
        <p:txBody>
          <a:bodyPr wrap="square" lIns="0" tIns="0" rIns="0" bIns="0" rtlCol="0" anchor="ctr"/>
          <a:lstStyle/>
          <a:p>
            <a:pPr indent="0" marL="0">
              <a:buNone/>
            </a:pPr>
            <a:r>
              <a:rPr lang="en-US" sz="1300" b="1" spc="240" kern="0" dirty="0">
                <a:solidFill>
                  <a:srgbClr val="E9A13B"/>
                </a:solidFill>
              </a:rPr>
              <a:t>THE HEADLINE</a:t>
            </a:r>
            <a:endParaRPr lang="en-US" sz="1300" dirty="0"/>
          </a:p>
        </p:txBody>
      </p:sp>
      <p:sp>
        <p:nvSpPr>
          <p:cNvPr id="3" name="Text 1"/>
          <p:cNvSpPr txBox="1"/>
          <p:nvPr/>
        </p:nvSpPr>
        <p:spPr>
          <a:xfrm>
            <a:off x="658368" y="1783080"/>
            <a:ext cx="9866376" cy="1920240"/>
          </a:xfrm>
          <a:prstGeom prst="rect">
            <a:avLst/>
          </a:prstGeom>
          <a:noFill/>
          <a:ln/>
        </p:spPr>
        <p:txBody>
          <a:bodyPr wrap="square" lIns="0" tIns="0" rIns="0" bIns="0" rtlCol="0" anchor="t"/>
          <a:lstStyle/>
          <a:p>
            <a:pPr indent="0" marL="0">
              <a:lnSpc>
                <a:spcPct val="110000"/>
              </a:lnSpc>
              <a:buNone/>
            </a:pPr>
            <a:r>
              <a:rPr lang="en-US" sz="3400" b="1" dirty="0">
                <a:solidFill>
                  <a:srgbClr val="FFFFFF"/>
                </a:solidFill>
              </a:rPr>
              <a:t>We can tell you how much equity to hold. We cannot yet tell you how to split it.</a:t>
            </a:r>
            <a:endParaRPr lang="en-US" sz="3400" dirty="0"/>
          </a:p>
        </p:txBody>
      </p:sp>
      <p:sp>
        <p:nvSpPr>
          <p:cNvPr id="4" name="Text 2"/>
          <p:cNvSpPr txBox="1"/>
          <p:nvPr/>
        </p:nvSpPr>
        <p:spPr>
          <a:xfrm>
            <a:off x="658368" y="4114800"/>
            <a:ext cx="8220456" cy="1737360"/>
          </a:xfrm>
          <a:prstGeom prst="rect">
            <a:avLst/>
          </a:prstGeom>
          <a:noFill/>
          <a:ln/>
        </p:spPr>
        <p:txBody>
          <a:bodyPr wrap="square" lIns="0" tIns="0" rIns="0" bIns="0" rtlCol="0" anchor="t"/>
          <a:lstStyle/>
          <a:p>
            <a:pPr indent="0" marL="0">
              <a:lnSpc>
                <a:spcPct val="125000"/>
              </a:lnSpc>
              <a:buNone/>
            </a:pPr>
            <a:r>
              <a:rPr lang="en-US" sz="1500" dirty="0">
                <a:solidFill>
                  <a:srgbClr val="CADCFC"/>
                </a:solidFill>
              </a:rPr>
              <a:t>The class survey identifies risk aversion, time preference, personality and the two curvatures of the value function. It does not identify loss aversion, the floor or the aspiration level, so the behavioral layers cannot be sized from stated preferences. Four extra questions close that gap, and they are already live in our portal.</a:t>
            </a:r>
            <a:endParaRPr lang="en-US" sz="1500" dirty="0"/>
          </a:p>
        </p:txBody>
      </p:sp>
      <p:sp>
        <p:nvSpPr>
          <p:cNvPr id="6" name="Text 0"/>
          <p:cNvSpPr/>
          <p:nvPr>
            <p:ph idx="100" type="title" hasCustomPrompt="1"/>
          </p:nvPr>
        </p:nvSpPr>
        <p:spPr>
          <a:xfrm>
            <a:off x="658368" y="2148840"/>
            <a:ext cx="9774936" cy="1737360"/>
          </a:xfrm>
          <a:prstGeom prst="rect">
            <a:avLst/>
          </a:prstGeom>
          <a:noFill/>
          <a:ln/>
        </p:spPr>
        <p:txBody>
          <a:bodyPr wrap="square" rtlCol="0" anchor="b"/>
          <a:lstStyle/>
          <a:p>
            <a:pPr indent="0" marL="0">
              <a:buNone/>
            </a:pPr>
            <a:endParaRPr lang="en-US" sz="4000" dirty="0"/>
          </a:p>
        </p:txBody>
      </p:sp>
      <p:sp>
        <p:nvSpPr>
          <p:cNvPr id="7" name="Text 0"/>
          <p:cNvSpPr/>
          <p:nvPr>
            <p:ph idx="101" type="body" hasCustomPrompt="1"/>
          </p:nvPr>
        </p:nvSpPr>
        <p:spPr>
          <a:xfrm>
            <a:off x="658368" y="4069080"/>
            <a:ext cx="8677656" cy="1737360"/>
          </a:xfrm>
          <a:prstGeom prst="rect">
            <a:avLst/>
          </a:prstGeom>
          <a:noFill/>
          <a:ln/>
        </p:spPr>
        <p:txBody>
          <a:bodyPr wrap="square" rtlCol="0" anchor="t"/>
          <a:lstStyle/>
          <a:p>
            <a:pPr indent="0" marL="0">
              <a:buNone/>
            </a:pP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What we did</a:t>
            </a:r>
            <a:endParaRPr lang="en-US" sz="3000" dirty="0"/>
          </a:p>
        </p:txBody>
      </p:sp>
      <p:sp>
        <p:nvSpPr>
          <p:cNvPr id="3" name="Shape 1"/>
          <p:cNvSpPr/>
          <p:nvPr/>
        </p:nvSpPr>
        <p:spPr>
          <a:xfrm>
            <a:off x="658368" y="1426464"/>
            <a:ext cx="3416808" cy="4645152"/>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4" name="Text 2"/>
          <p:cNvSpPr txBox="1"/>
          <p:nvPr/>
        </p:nvSpPr>
        <p:spPr>
          <a:xfrm>
            <a:off x="969264" y="1700784"/>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01</a:t>
            </a:r>
            <a:endParaRPr lang="en-US" sz="2600" dirty="0"/>
          </a:p>
        </p:txBody>
      </p:sp>
      <p:sp>
        <p:nvSpPr>
          <p:cNvPr id="5" name="Text 3"/>
          <p:cNvSpPr txBox="1"/>
          <p:nvPr/>
        </p:nvSpPr>
        <p:spPr>
          <a:xfrm>
            <a:off x="969264" y="2176272"/>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Fielded the survey</a:t>
            </a:r>
            <a:endParaRPr lang="en-US" sz="1600" dirty="0"/>
          </a:p>
        </p:txBody>
      </p:sp>
      <p:sp>
        <p:nvSpPr>
          <p:cNvPr id="6" name="Text 4"/>
          <p:cNvSpPr txBox="1"/>
          <p:nvPr/>
        </p:nvSpPr>
        <p:spPr>
          <a:xfrm>
            <a:off x="969264" y="2615184"/>
            <a:ext cx="2795016" cy="3163824"/>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Four classmates completed Steps 1 to 4: the eight-row risk ladder, six time-preference rows, the 30-item BFI-2 subset, and the utility and value elicitations.</a:t>
            </a:r>
            <a:endParaRPr lang="en-US" sz="1250" dirty="0"/>
          </a:p>
        </p:txBody>
      </p:sp>
      <p:sp>
        <p:nvSpPr>
          <p:cNvPr id="7" name="Shape 5"/>
          <p:cNvSpPr/>
          <p:nvPr/>
        </p:nvSpPr>
        <p:spPr>
          <a:xfrm>
            <a:off x="4386072" y="1426464"/>
            <a:ext cx="3416808" cy="4645152"/>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8" name="Text 6"/>
          <p:cNvSpPr txBox="1"/>
          <p:nvPr/>
        </p:nvSpPr>
        <p:spPr>
          <a:xfrm>
            <a:off x="4696968" y="1700784"/>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02</a:t>
            </a:r>
            <a:endParaRPr lang="en-US" sz="2600" dirty="0"/>
          </a:p>
        </p:txBody>
      </p:sp>
      <p:sp>
        <p:nvSpPr>
          <p:cNvPr id="9" name="Text 7"/>
          <p:cNvSpPr txBox="1"/>
          <p:nvPr/>
        </p:nvSpPr>
        <p:spPr>
          <a:xfrm>
            <a:off x="4696968" y="2176272"/>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Estimated what it identifies</a:t>
            </a:r>
            <a:endParaRPr lang="en-US" sz="1600" dirty="0"/>
          </a:p>
        </p:txBody>
      </p:sp>
      <p:sp>
        <p:nvSpPr>
          <p:cNvPr id="10" name="Text 8"/>
          <p:cNvSpPr txBox="1"/>
          <p:nvPr/>
        </p:nvSpPr>
        <p:spPr>
          <a:xfrm>
            <a:off x="4696968" y="2615184"/>
            <a:ext cx="2795016" cy="3163824"/>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Risk aversion from the utility curve, a discount bracket from the time rows, five personality domains and fifteen facets, and both value-function curvatures.</a:t>
            </a:r>
            <a:endParaRPr lang="en-US" sz="1250" dirty="0"/>
          </a:p>
        </p:txBody>
      </p:sp>
      <p:sp>
        <p:nvSpPr>
          <p:cNvPr id="11" name="Shape 9"/>
          <p:cNvSpPr/>
          <p:nvPr/>
        </p:nvSpPr>
        <p:spPr>
          <a:xfrm>
            <a:off x="8113776" y="1426464"/>
            <a:ext cx="3416808" cy="4645152"/>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12" name="Text 10"/>
          <p:cNvSpPr txBox="1"/>
          <p:nvPr/>
        </p:nvSpPr>
        <p:spPr>
          <a:xfrm>
            <a:off x="8424672" y="1700784"/>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03</a:t>
            </a:r>
            <a:endParaRPr lang="en-US" sz="2600" dirty="0"/>
          </a:p>
        </p:txBody>
      </p:sp>
      <p:sp>
        <p:nvSpPr>
          <p:cNvPr id="13" name="Text 11"/>
          <p:cNvSpPr txBox="1"/>
          <p:nvPr/>
        </p:nvSpPr>
        <p:spPr>
          <a:xfrm>
            <a:off x="8424672" y="2176272"/>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Built Step 5 on real inputs</a:t>
            </a:r>
            <a:endParaRPr lang="en-US" sz="1600" dirty="0"/>
          </a:p>
        </p:txBody>
      </p:sp>
      <p:sp>
        <p:nvSpPr>
          <p:cNvPr id="14" name="Text 12"/>
          <p:cNvSpPr txBox="1"/>
          <p:nvPr/>
        </p:nvSpPr>
        <p:spPr>
          <a:xfrm>
            <a:off x="8424672" y="2615184"/>
            <a:ext cx="2795016" cy="3163824"/>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The 60-stock maximum-Sharpe portfolio from Problem Statement 1, 24.9% against 18.0%, not an illustrative market assumption.</a:t>
            </a:r>
            <a:endParaRPr lang="en-US" sz="1250" dirty="0"/>
          </a:p>
        </p:txBody>
      </p:sp>
      <p:sp>
        <p:nvSpPr>
          <p:cNvPr id="16"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The peer group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426464"/>
          <a:ext cx="10872216" cy="914400"/>
        </p:xfrm>
        <a:graphic>
          <a:graphicData uri="http://schemas.openxmlformats.org/drawingml/2006/table">
            <a:tbl>
              <a:tblPr/>
              <a:tblGrid>
                <a:gridCol w="1188720"/>
                <a:gridCol w="731520"/>
                <a:gridCol w="1371600"/>
                <a:gridCol w="1371600"/>
                <a:gridCol w="1097280"/>
                <a:gridCol w="2286000"/>
                <a:gridCol w="1005840"/>
              </a:tblGrid>
              <a:tr h="384048">
                <a:tc>
                  <a:txBody>
                    <a:bodyPr/>
                    <a:lstStyle/>
                    <a:p>
                      <a:pPr indent="0" marL="0">
                        <a:buNone/>
                      </a:pPr>
                      <a:r>
                        <a:rPr lang="en-US" sz="1200" b="1" dirty="0">
                          <a:solidFill>
                            <a:srgbClr val="FFFFFF"/>
                          </a:solidFill>
                        </a:rPr>
                        <a:t>Roll</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Age</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Investable</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Experience</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Horizon</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Goal</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Usable</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251250039</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25</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Rs 90,000</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Moderate</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5 yrs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Wealth creation</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Yes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A1A2E"/>
                          </a:solidFill>
                        </a:rPr>
                        <a:t>251250047</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24</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Rs 2 L</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None</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10 yrs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Wealth creation</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No</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r>
              <a:tr h="384048">
                <a:tc>
                  <a:txBody>
                    <a:bodyPr/>
                    <a:lstStyle/>
                    <a:p>
                      <a:pPr indent="0" marL="0">
                        <a:buNone/>
                      </a:pPr>
                      <a:r>
                        <a:rPr lang="en-US" sz="1250" dirty="0">
                          <a:solidFill>
                            <a:srgbClr val="1A1A2E"/>
                          </a:solidFill>
                        </a:rPr>
                        <a:t>251250002</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25</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Rs 10 L</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Limited</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6 yrs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Wealth creation</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Yes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A1A2E"/>
                          </a:solidFill>
                        </a:rPr>
                        <a:t>251250030</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29</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Rs 1 L</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Limited</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15 yrs</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Specified goal</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No</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r>
            </a:tbl>
          </a:graphicData>
        </a:graphic>
      </p:graphicFrame>
      <p:sp>
        <p:nvSpPr>
          <p:cNvPr id="4" name="Text 1"/>
          <p:cNvSpPr txBox="1"/>
          <p:nvPr/>
        </p:nvSpPr>
        <p:spPr>
          <a:xfrm>
            <a:off x="658368" y="5742432"/>
            <a:ext cx="10872216" cy="548640"/>
          </a:xfrm>
          <a:prstGeom prst="rect">
            <a:avLst/>
          </a:prstGeom>
          <a:noFill/>
          <a:ln/>
        </p:spPr>
        <p:txBody>
          <a:bodyPr wrap="square" lIns="0" tIns="0" rIns="0" bIns="0" rtlCol="0" anchor="ctr"/>
          <a:lstStyle/>
          <a:p>
            <a:pPr indent="0" marL="0">
              <a:lnSpc>
                <a:spcPct val="120000"/>
              </a:lnSpc>
              <a:buNone/>
            </a:pPr>
            <a:r>
              <a:rPr lang="en-US" sz="1300" i="1" dirty="0">
                <a:solidFill>
                  <a:srgbClr val="55607A"/>
                </a:solidFill>
              </a:rPr>
              <a:t>Two of the four submitted utility data we could not use. We left those cells empty rather than inventing a number, and specified the re-elicitation instead.</a:t>
            </a:r>
            <a:endParaRPr lang="en-US" sz="1300" dirty="0"/>
          </a:p>
        </p:txBody>
      </p:sp>
      <p:sp>
        <p:nvSpPr>
          <p:cNvPr id="6"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Finding 1: the risk ladder cannot measure risk aversion</a:t>
            </a:r>
            <a:endParaRPr lang="en-US" sz="3000" dirty="0"/>
          </a:p>
        </p:txBody>
      </p:sp>
      <p:sp>
        <p:nvSpPr>
          <p:cNvPr id="3" name="Text 1"/>
          <p:cNvSpPr txBox="1"/>
          <p:nvPr/>
        </p:nvSpPr>
        <p:spPr>
          <a:xfrm>
            <a:off x="658368" y="1371600"/>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Every rung offers a certain amount equal to the gamble's expected value.</a:t>
            </a:r>
            <a:endParaRPr lang="en-US" sz="1500" dirty="0"/>
          </a:p>
        </p:txBody>
      </p:sp>
      <p:pic>
        <p:nvPicPr>
          <p:cNvPr id="4" name="Image 0" descr="/Users/siddharthjaiswal/Desktop/SEM_7/MBA680/Problem_statement_2/figures/c3_risk_ladder.png">    </p:cNvPr>
          <p:cNvPicPr>
            <a:picLocks noChangeAspect="1"/>
          </p:cNvPicPr>
          <p:nvPr/>
        </p:nvPicPr>
        <p:blipFill>
          <a:blip r:embed="rId1"/>
          <a:stretch>
            <a:fillRect/>
          </a:stretch>
        </p:blipFill>
        <p:spPr>
          <a:xfrm>
            <a:off x="658368" y="2726514"/>
            <a:ext cx="6675120" cy="2538828"/>
          </a:xfrm>
          <a:prstGeom prst="rect">
            <a:avLst/>
          </a:prstGeom>
        </p:spPr>
      </p:pic>
      <p:sp>
        <p:nvSpPr>
          <p:cNvPr id="5" name="Text 2"/>
          <p:cNvSpPr txBox="1"/>
          <p:nvPr/>
        </p:nvSpPr>
        <p:spPr>
          <a:xfrm>
            <a:off x="7626096" y="1847088"/>
            <a:ext cx="3904488" cy="4297680"/>
          </a:xfrm>
          <a:prstGeom prst="rect">
            <a:avLst/>
          </a:prstGeom>
          <a:noFill/>
          <a:ln/>
        </p:spPr>
        <p:txBody>
          <a:bodyPr wrap="square" lIns="0" tIns="0" rIns="0" bIns="0" rtlCol="0" anchor="ctr"/>
          <a:lstStyle/>
          <a:p>
            <a:pPr marL="342900" indent="-342900">
              <a:lnSpc>
                <a:spcPct val="116000"/>
              </a:lnSpc>
              <a:spcAft>
                <a:spcPts val="900"/>
              </a:spcAft>
              <a:buSzPct val="100000"/>
              <a:buChar char="●"/>
            </a:pPr>
            <a:r>
              <a:rPr lang="en-US" sz="1450" dirty="0">
                <a:solidFill>
                  <a:srgbClr val="1A1A2E"/>
                </a:solidFill>
              </a:rPr>
              <a:t>Under expected utility, a risk-averse person takes the certain amount at all eight rows and a risk-seeking person takes the gamble at all eight.</a:t>
            </a:r>
            <a:endParaRPr lang="en-US" sz="1450" dirty="0"/>
          </a:p>
          <a:p>
            <a:pPr marL="342900" indent="-342900">
              <a:lnSpc>
                <a:spcPct val="116000"/>
              </a:lnSpc>
              <a:spcAft>
                <a:spcPts val="900"/>
              </a:spcAft>
              <a:buSzPct val="100000"/>
              <a:buChar char="●"/>
            </a:pPr>
            <a:r>
              <a:rPr lang="en-US" sz="1450" dirty="0">
                <a:solidFill>
                  <a:srgbClr val="1A1A2E"/>
                </a:solidFill>
              </a:rPr>
              <a:t>Roll 251250039 switches at R4. Roll 251250002 switches at R3.</a:t>
            </a:r>
            <a:endParaRPr lang="en-US" sz="1450" dirty="0"/>
          </a:p>
          <a:p>
            <a:pPr marL="342900" indent="-342900">
              <a:lnSpc>
                <a:spcPct val="116000"/>
              </a:lnSpc>
              <a:spcAft>
                <a:spcPts val="900"/>
              </a:spcAft>
              <a:buSzPct val="100000"/>
              <a:buChar char="●"/>
            </a:pPr>
            <a:r>
              <a:rPr lang="en-US" sz="1450" dirty="0">
                <a:solidFill>
                  <a:srgbClr val="1A1A2E"/>
                </a:solidFill>
              </a:rPr>
              <a:t>No utility function over final wealth can produce a switch. These are not noise, they are violations of the model that would do the measuring.</a:t>
            </a:r>
            <a:endParaRPr lang="en-US" sz="1450" dirty="0"/>
          </a:p>
          <a:p>
            <a:pPr marL="342900" indent="-342900">
              <a:lnSpc>
                <a:spcPct val="116000"/>
              </a:lnSpc>
              <a:spcAft>
                <a:spcPts val="900"/>
              </a:spcAft>
              <a:buSzPct val="100000"/>
              <a:buChar char="●"/>
            </a:pPr>
            <a:r>
              <a:rPr lang="en-US" sz="1450" dirty="0">
                <a:solidFill>
                  <a:srgbClr val="1A1A2E"/>
                </a:solidFill>
              </a:rPr>
              <a:t>So we classify the pattern and take risk aversion from the utility curve instead.</a:t>
            </a:r>
            <a:endParaRPr lang="en-US" sz="1450" dirty="0"/>
          </a:p>
        </p:txBody>
      </p:sp>
      <p:sp>
        <p:nvSpPr>
          <p:cNvPr id="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Finding 2: loss aversion is not identified at all</a:t>
            </a:r>
            <a:endParaRPr lang="en-US" sz="3000" dirty="0"/>
          </a:p>
        </p:txBody>
      </p:sp>
      <p:sp>
        <p:nvSpPr>
          <p:cNvPr id="3" name="Text 1"/>
          <p:cNvSpPr txBox="1"/>
          <p:nvPr/>
        </p:nvSpPr>
        <p:spPr>
          <a:xfrm>
            <a:off x="658368" y="1389888"/>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Every value-function row offers a certain amount against double or nothing, so the certain amount cancels:</a:t>
            </a:r>
            <a:endParaRPr lang="en-US" sz="1500" dirty="0"/>
          </a:p>
        </p:txBody>
      </p:sp>
      <p:sp>
        <p:nvSpPr>
          <p:cNvPr id="4" name="Shape 2"/>
          <p:cNvSpPr/>
          <p:nvPr/>
        </p:nvSpPr>
        <p:spPr>
          <a:xfrm>
            <a:off x="658368" y="1938528"/>
            <a:ext cx="5486400" cy="1920240"/>
          </a:xfrm>
          <a:prstGeom prst="roundRect">
            <a:avLst>
              <a:gd name="adj" fmla="val 2857"/>
            </a:avLst>
          </a:prstGeom>
          <a:solidFill>
            <a:srgbClr val="1E2761"/>
          </a:solidFill>
          <a:ln/>
        </p:spPr>
      </p:sp>
      <p:sp>
        <p:nvSpPr>
          <p:cNvPr id="5" name="Text 3"/>
          <p:cNvSpPr txBox="1"/>
          <p:nvPr/>
        </p:nvSpPr>
        <p:spPr>
          <a:xfrm>
            <a:off x="1042416" y="2139696"/>
            <a:ext cx="4754880" cy="1554480"/>
          </a:xfrm>
          <a:prstGeom prst="rect">
            <a:avLst/>
          </a:prstGeom>
          <a:noFill/>
          <a:ln/>
        </p:spPr>
        <p:txBody>
          <a:bodyPr wrap="square" lIns="0" tIns="0" rIns="0" bIns="0" rtlCol="0" anchor="ctr"/>
          <a:lstStyle/>
          <a:p>
            <a:pPr indent="0" marL="0">
              <a:lnSpc>
                <a:spcPct val="145000"/>
              </a:lnSpc>
              <a:buNone/>
            </a:pPr>
            <a:r>
              <a:rPr lang="en-US" sz="1600" dirty="0">
                <a:solidFill>
                  <a:srgbClr val="FFFFFF"/>
                </a:solidFill>
                <a:latin typeface="Courier New" pitchFamily="34" charset="0"/>
                <a:ea typeface="Courier New" pitchFamily="34" charset="-122"/>
                <a:cs typeface="Courier New" pitchFamily="34" charset="-120"/>
              </a:rPr>
              <a:t>v(X) = p  v(2X)</a:t>
            </a:r>
            <a:endParaRPr lang="en-US" sz="1600" dirty="0"/>
          </a:p>
          <a:p>
            <a:pPr indent="0" marL="0">
              <a:lnSpc>
                <a:spcPct val="145000"/>
              </a:lnSpc>
              <a:buNone/>
            </a:pPr>
            <a:r>
              <a:rPr lang="en-US" sz="1600" dirty="0">
                <a:solidFill>
                  <a:srgbClr val="FFFFFF"/>
                </a:solidFill>
                <a:latin typeface="Courier New" pitchFamily="34" charset="0"/>
                <a:ea typeface="Courier New" pitchFamily="34" charset="-122"/>
                <a:cs typeface="Courier New" pitchFamily="34" charset="-120"/>
              </a:rPr>
              <a:t>X^a  =  p (2X)^a</a:t>
            </a:r>
            <a:endParaRPr lang="en-US" sz="1600" dirty="0"/>
          </a:p>
          <a:p>
            <a:pPr indent="0" marL="0">
              <a:lnSpc>
                <a:spcPct val="145000"/>
              </a:lnSpc>
              <a:buNone/>
            </a:pPr>
            <a:r>
              <a:rPr lang="en-US" sz="1600" dirty="0">
                <a:solidFill>
                  <a:srgbClr val="FFFFFF"/>
                </a:solidFill>
                <a:latin typeface="Courier New" pitchFamily="34" charset="0"/>
                <a:ea typeface="Courier New" pitchFamily="34" charset="-122"/>
                <a:cs typeface="Courier New" pitchFamily="34" charset="-120"/>
              </a:rPr>
              <a:t>p  =  (1/2)^a        so        a  =  -log2(p)</a:t>
            </a:r>
            <a:endParaRPr lang="en-US" sz="1600" dirty="0"/>
          </a:p>
        </p:txBody>
      </p:sp>
      <p:sp>
        <p:nvSpPr>
          <p:cNvPr id="6" name="Text 4"/>
          <p:cNvSpPr txBox="1"/>
          <p:nvPr/>
        </p:nvSpPr>
        <p:spPr>
          <a:xfrm>
            <a:off x="6601968" y="1938528"/>
            <a:ext cx="4928616" cy="2377440"/>
          </a:xfrm>
          <a:prstGeom prst="rect">
            <a:avLst/>
          </a:prstGeom>
          <a:noFill/>
          <a:ln/>
        </p:spPr>
        <p:txBody>
          <a:bodyPr wrap="square" lIns="0" tIns="0" rIns="0" bIns="0" rtlCol="0" anchor="t"/>
          <a:lstStyle/>
          <a:p>
            <a:pPr indent="0" marL="0">
              <a:lnSpc>
                <a:spcPct val="122000"/>
              </a:lnSpc>
              <a:buNone/>
            </a:pPr>
            <a:r>
              <a:rPr lang="en-US" sz="1450" dirty="0">
                <a:solidFill>
                  <a:srgbClr val="1A1A2E"/>
                </a:solidFill>
              </a:rPr>
              <a:t>The gain rows fix the gain curvature and the loss rows fix the loss curvature, but nothing in the form ever compares their heights. Lambda needs a prospect with a gain on one side and a loss on the other. Without it, the single most important parameter in prospect theory is simply absent.</a:t>
            </a:r>
            <a:endParaRPr lang="en-US" sz="1450" dirty="0"/>
          </a:p>
        </p:txBody>
      </p:sp>
      <p:sp>
        <p:nvSpPr>
          <p:cNvPr id="7" name="Shape 5"/>
          <p:cNvSpPr/>
          <p:nvPr/>
        </p:nvSpPr>
        <p:spPr>
          <a:xfrm>
            <a:off x="658368" y="4224528"/>
            <a:ext cx="10872216" cy="914400"/>
          </a:xfrm>
          <a:prstGeom prst="roundRect">
            <a:avLst>
              <a:gd name="adj" fmla="val 6000"/>
            </a:avLst>
          </a:prstGeom>
          <a:solidFill>
            <a:srgbClr val="F6F8FD"/>
          </a:solidFill>
          <a:ln w="12700">
            <a:solidFill>
              <a:srgbClr val="DFE5F2"/>
            </a:solidFill>
            <a:prstDash val="solid"/>
          </a:ln>
        </p:spPr>
      </p:sp>
      <p:sp>
        <p:nvSpPr>
          <p:cNvPr id="8" name="Text 6"/>
          <p:cNvSpPr txBox="1"/>
          <p:nvPr/>
        </p:nvSpPr>
        <p:spPr>
          <a:xfrm>
            <a:off x="1042416" y="4224528"/>
            <a:ext cx="10104120" cy="914400"/>
          </a:xfrm>
          <a:prstGeom prst="rect">
            <a:avLst/>
          </a:prstGeom>
          <a:noFill/>
          <a:ln/>
        </p:spPr>
        <p:txBody>
          <a:bodyPr wrap="square" lIns="0" tIns="0" rIns="0" bIns="0" rtlCol="0" anchor="ctr"/>
          <a:lstStyle/>
          <a:p>
            <a:pPr indent="0" marL="0">
              <a:buNone/>
            </a:pPr>
            <a:r>
              <a:rPr lang="en-US" sz="1700" b="1" dirty="0">
                <a:solidFill>
                  <a:srgbClr val="1E2761"/>
                </a:solidFill>
              </a:rPr>
              <a:t>This is a property of the instrument, not of the respondents.</a:t>
            </a:r>
            <a:endParaRPr lang="en-US" sz="1700" dirty="0"/>
          </a:p>
        </p:txBody>
      </p:sp>
      <p:sp>
        <p:nvSpPr>
          <p:cNvPr id="10"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Finding 3: V1, V2 and V3 are one question asked three times</a:t>
            </a:r>
            <a:endParaRPr lang="en-US" sz="3000" dirty="0"/>
          </a:p>
        </p:txBody>
      </p:sp>
      <p:sp>
        <p:nvSpPr>
          <p:cNvPr id="3" name="Shape 1"/>
          <p:cNvSpPr/>
          <p:nvPr/>
        </p:nvSpPr>
        <p:spPr>
          <a:xfrm>
            <a:off x="658368" y="1572768"/>
            <a:ext cx="3416808" cy="1627632"/>
          </a:xfrm>
          <a:prstGeom prst="roundRect">
            <a:avLst>
              <a:gd name="adj" fmla="val 3371"/>
            </a:avLst>
          </a:prstGeom>
          <a:solidFill>
            <a:srgbClr val="FFFFFF"/>
          </a:solidFill>
          <a:ln w="12700">
            <a:solidFill>
              <a:srgbClr val="DFE5F2"/>
            </a:solidFill>
            <a:prstDash val="solid"/>
          </a:ln>
        </p:spPr>
      </p:sp>
      <p:sp>
        <p:nvSpPr>
          <p:cNvPr id="4" name="Text 2"/>
          <p:cNvSpPr txBox="1"/>
          <p:nvPr/>
        </p:nvSpPr>
        <p:spPr>
          <a:xfrm>
            <a:off x="658368" y="1737360"/>
            <a:ext cx="3416808" cy="914400"/>
          </a:xfrm>
          <a:prstGeom prst="rect">
            <a:avLst/>
          </a:prstGeom>
          <a:noFill/>
          <a:ln/>
        </p:spPr>
        <p:txBody>
          <a:bodyPr wrap="square" lIns="0" tIns="0" rIns="0" bIns="0" rtlCol="0" anchor="ctr"/>
          <a:lstStyle/>
          <a:p>
            <a:pPr algn="ctr" indent="0" marL="0">
              <a:buNone/>
            </a:pPr>
            <a:r>
              <a:rPr lang="en-US" sz="5800" b="1" dirty="0">
                <a:solidFill>
                  <a:srgbClr val="1E2761"/>
                </a:solidFill>
              </a:rPr>
              <a:t>1.32</a:t>
            </a:r>
            <a:endParaRPr lang="en-US" sz="5800" dirty="0"/>
          </a:p>
        </p:txBody>
      </p:sp>
      <p:sp>
        <p:nvSpPr>
          <p:cNvPr id="5" name="Text 3"/>
          <p:cNvSpPr txBox="1"/>
          <p:nvPr/>
        </p:nvSpPr>
        <p:spPr>
          <a:xfrm>
            <a:off x="658368" y="2670048"/>
            <a:ext cx="3416808" cy="347472"/>
          </a:xfrm>
          <a:prstGeom prst="rect">
            <a:avLst/>
          </a:prstGeom>
          <a:noFill/>
          <a:ln/>
        </p:spPr>
        <p:txBody>
          <a:bodyPr wrap="square" lIns="0" tIns="0" rIns="0" bIns="0" rtlCol="0" anchor="ctr"/>
          <a:lstStyle/>
          <a:p>
            <a:pPr algn="ctr" indent="0" marL="0">
              <a:buNone/>
            </a:pPr>
            <a:r>
              <a:rPr lang="en-US" sz="1300" dirty="0">
                <a:solidFill>
                  <a:srgbClr val="55607A"/>
                </a:solidFill>
              </a:rPr>
              <a:t>implied by V1</a:t>
            </a:r>
            <a:endParaRPr lang="en-US" sz="1300" dirty="0"/>
          </a:p>
        </p:txBody>
      </p:sp>
      <p:sp>
        <p:nvSpPr>
          <p:cNvPr id="6" name="Shape 4"/>
          <p:cNvSpPr/>
          <p:nvPr/>
        </p:nvSpPr>
        <p:spPr>
          <a:xfrm>
            <a:off x="4386072" y="1572768"/>
            <a:ext cx="3416808" cy="1627632"/>
          </a:xfrm>
          <a:prstGeom prst="roundRect">
            <a:avLst>
              <a:gd name="adj" fmla="val 3371"/>
            </a:avLst>
          </a:prstGeom>
          <a:solidFill>
            <a:srgbClr val="FFFFFF"/>
          </a:solidFill>
          <a:ln w="12700">
            <a:solidFill>
              <a:srgbClr val="DFE5F2"/>
            </a:solidFill>
            <a:prstDash val="solid"/>
          </a:ln>
        </p:spPr>
      </p:sp>
      <p:sp>
        <p:nvSpPr>
          <p:cNvPr id="7" name="Text 5"/>
          <p:cNvSpPr txBox="1"/>
          <p:nvPr/>
        </p:nvSpPr>
        <p:spPr>
          <a:xfrm>
            <a:off x="4386072" y="1737360"/>
            <a:ext cx="3416808" cy="914400"/>
          </a:xfrm>
          <a:prstGeom prst="rect">
            <a:avLst/>
          </a:prstGeom>
          <a:noFill/>
          <a:ln/>
        </p:spPr>
        <p:txBody>
          <a:bodyPr wrap="square" lIns="0" tIns="0" rIns="0" bIns="0" rtlCol="0" anchor="ctr"/>
          <a:lstStyle/>
          <a:p>
            <a:pPr algn="ctr" indent="0" marL="0">
              <a:buNone/>
            </a:pPr>
            <a:r>
              <a:rPr lang="en-US" sz="5800" b="1" dirty="0">
                <a:solidFill>
                  <a:srgbClr val="1E2761"/>
                </a:solidFill>
              </a:rPr>
              <a:t>1.15</a:t>
            </a:r>
            <a:endParaRPr lang="en-US" sz="5800" dirty="0"/>
          </a:p>
        </p:txBody>
      </p:sp>
      <p:sp>
        <p:nvSpPr>
          <p:cNvPr id="8" name="Text 6"/>
          <p:cNvSpPr txBox="1"/>
          <p:nvPr/>
        </p:nvSpPr>
        <p:spPr>
          <a:xfrm>
            <a:off x="4386072" y="2670048"/>
            <a:ext cx="3416808" cy="347472"/>
          </a:xfrm>
          <a:prstGeom prst="rect">
            <a:avLst/>
          </a:prstGeom>
          <a:noFill/>
          <a:ln/>
        </p:spPr>
        <p:txBody>
          <a:bodyPr wrap="square" lIns="0" tIns="0" rIns="0" bIns="0" rtlCol="0" anchor="ctr"/>
          <a:lstStyle/>
          <a:p>
            <a:pPr algn="ctr" indent="0" marL="0">
              <a:buNone/>
            </a:pPr>
            <a:r>
              <a:rPr lang="en-US" sz="1300" dirty="0">
                <a:solidFill>
                  <a:srgbClr val="55607A"/>
                </a:solidFill>
              </a:rPr>
              <a:t>implied by V2</a:t>
            </a:r>
            <a:endParaRPr lang="en-US" sz="1300" dirty="0"/>
          </a:p>
        </p:txBody>
      </p:sp>
      <p:sp>
        <p:nvSpPr>
          <p:cNvPr id="9" name="Shape 7"/>
          <p:cNvSpPr/>
          <p:nvPr/>
        </p:nvSpPr>
        <p:spPr>
          <a:xfrm>
            <a:off x="8113776" y="1572768"/>
            <a:ext cx="3416808" cy="1627632"/>
          </a:xfrm>
          <a:prstGeom prst="roundRect">
            <a:avLst>
              <a:gd name="adj" fmla="val 3371"/>
            </a:avLst>
          </a:prstGeom>
          <a:solidFill>
            <a:srgbClr val="FFFFFF"/>
          </a:solidFill>
          <a:ln w="12700">
            <a:solidFill>
              <a:srgbClr val="DFE5F2"/>
            </a:solidFill>
            <a:prstDash val="solid"/>
          </a:ln>
        </p:spPr>
      </p:sp>
      <p:sp>
        <p:nvSpPr>
          <p:cNvPr id="10" name="Text 8"/>
          <p:cNvSpPr txBox="1"/>
          <p:nvPr/>
        </p:nvSpPr>
        <p:spPr>
          <a:xfrm>
            <a:off x="8113776" y="1737360"/>
            <a:ext cx="3416808" cy="914400"/>
          </a:xfrm>
          <a:prstGeom prst="rect">
            <a:avLst/>
          </a:prstGeom>
          <a:noFill/>
          <a:ln/>
        </p:spPr>
        <p:txBody>
          <a:bodyPr wrap="square" lIns="0" tIns="0" rIns="0" bIns="0" rtlCol="0" anchor="ctr"/>
          <a:lstStyle/>
          <a:p>
            <a:pPr algn="ctr" indent="0" marL="0">
              <a:buNone/>
            </a:pPr>
            <a:r>
              <a:rPr lang="en-US" sz="5800" b="1" dirty="0">
                <a:solidFill>
                  <a:srgbClr val="1E2761"/>
                </a:solidFill>
              </a:rPr>
              <a:t>0.51</a:t>
            </a:r>
            <a:endParaRPr lang="en-US" sz="5800" dirty="0"/>
          </a:p>
        </p:txBody>
      </p:sp>
      <p:sp>
        <p:nvSpPr>
          <p:cNvPr id="11" name="Text 9"/>
          <p:cNvSpPr txBox="1"/>
          <p:nvPr/>
        </p:nvSpPr>
        <p:spPr>
          <a:xfrm>
            <a:off x="8113776" y="2670048"/>
            <a:ext cx="3416808" cy="347472"/>
          </a:xfrm>
          <a:prstGeom prst="rect">
            <a:avLst/>
          </a:prstGeom>
          <a:noFill/>
          <a:ln/>
        </p:spPr>
        <p:txBody>
          <a:bodyPr wrap="square" lIns="0" tIns="0" rIns="0" bIns="0" rtlCol="0" anchor="ctr"/>
          <a:lstStyle/>
          <a:p>
            <a:pPr algn="ctr" indent="0" marL="0">
              <a:buNone/>
            </a:pPr>
            <a:r>
              <a:rPr lang="en-US" sz="1300" dirty="0">
                <a:solidFill>
                  <a:srgbClr val="55607A"/>
                </a:solidFill>
              </a:rPr>
              <a:t>implied by V3</a:t>
            </a:r>
            <a:endParaRPr lang="en-US" sz="1300" dirty="0"/>
          </a:p>
        </p:txBody>
      </p:sp>
      <p:sp>
        <p:nvSpPr>
          <p:cNvPr id="12" name="Text 10"/>
          <p:cNvSpPr txBox="1"/>
          <p:nvPr/>
        </p:nvSpPr>
        <p:spPr>
          <a:xfrm>
            <a:off x="658368" y="3529584"/>
            <a:ext cx="9683496" cy="1371600"/>
          </a:xfrm>
          <a:prstGeom prst="rect">
            <a:avLst/>
          </a:prstGeom>
          <a:noFill/>
          <a:ln/>
        </p:spPr>
        <p:txBody>
          <a:bodyPr wrap="square" lIns="0" tIns="0" rIns="0" bIns="0" rtlCol="0" anchor="t"/>
          <a:lstStyle/>
          <a:p>
            <a:pPr indent="0" marL="0">
              <a:lnSpc>
                <a:spcPct val="124000"/>
              </a:lnSpc>
              <a:buNone/>
            </a:pPr>
            <a:r>
              <a:rPr lang="en-US" sz="1550" dirty="0">
                <a:solidFill>
                  <a:srgbClr val="1A1A2E"/>
                </a:solidFill>
              </a:rPr>
              <a:t>Because the certain amount cancels, all three rows imply the identical curvature. A steady respondent gives the same number three times. Roll 251250039 gives a spread of 0.81, and averaging to 1.00 hides it entirely.</a:t>
            </a:r>
            <a:endParaRPr lang="en-US" sz="1550" dirty="0"/>
          </a:p>
        </p:txBody>
      </p:sp>
      <p:sp>
        <p:nvSpPr>
          <p:cNvPr id="13" name="Shape 11"/>
          <p:cNvSpPr/>
          <p:nvPr/>
        </p:nvSpPr>
        <p:spPr>
          <a:xfrm>
            <a:off x="658368" y="5029200"/>
            <a:ext cx="10872216" cy="841248"/>
          </a:xfrm>
          <a:prstGeom prst="roundRect">
            <a:avLst>
              <a:gd name="adj" fmla="val 6522"/>
            </a:avLst>
          </a:prstGeom>
          <a:solidFill>
            <a:srgbClr val="1E2761"/>
          </a:solidFill>
          <a:ln/>
        </p:spPr>
      </p:sp>
      <p:sp>
        <p:nvSpPr>
          <p:cNvPr id="14" name="Text 12"/>
          <p:cNvSpPr txBox="1"/>
          <p:nvPr/>
        </p:nvSpPr>
        <p:spPr>
          <a:xfrm>
            <a:off x="1042416" y="5029200"/>
            <a:ext cx="10104120" cy="841248"/>
          </a:xfrm>
          <a:prstGeom prst="rect">
            <a:avLst/>
          </a:prstGeom>
          <a:noFill/>
          <a:ln/>
        </p:spPr>
        <p:txBody>
          <a:bodyPr wrap="square" lIns="0" tIns="0" rIns="0" bIns="0" rtlCol="0" anchor="ctr"/>
          <a:lstStyle/>
          <a:p>
            <a:pPr indent="0" marL="0">
              <a:buNone/>
            </a:pPr>
            <a:r>
              <a:rPr lang="en-US" sz="1700" b="1" dirty="0">
                <a:solidFill>
                  <a:srgbClr val="FFFFFF"/>
                </a:solidFill>
              </a:rPr>
              <a:t>The spread is the measurement error on a single answer. It belongs in the report.</a:t>
            </a:r>
            <a:endParaRPr lang="en-US" sz="1700" dirty="0"/>
          </a:p>
        </p:txBody>
      </p:sp>
      <p:sp>
        <p:nvSpPr>
          <p:cNvPr id="16"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Step 4: the two usable utility curves</a:t>
            </a:r>
            <a:endParaRPr lang="en-US" sz="3000" dirty="0"/>
          </a:p>
        </p:txBody>
      </p:sp>
      <p:sp>
        <p:nvSpPr>
          <p:cNvPr id="3" name="Text 1"/>
          <p:cNvSpPr txBox="1"/>
          <p:nvPr/>
        </p:nvSpPr>
        <p:spPr>
          <a:xfrm>
            <a:off x="658368" y="1371600"/>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Probability equivalence, exactly as the Week 2 to 3 lecture sets it out.</a:t>
            </a:r>
            <a:endParaRPr lang="en-US" sz="1500" dirty="0"/>
          </a:p>
        </p:txBody>
      </p:sp>
      <p:pic>
        <p:nvPicPr>
          <p:cNvPr id="4" name="Image 0" descr="/Users/siddharthjaiswal/Desktop/SEM_7/MBA680/Problem_statement_2/figures/c1_utility.png">    </p:cNvPr>
          <p:cNvPicPr>
            <a:picLocks noChangeAspect="1"/>
          </p:cNvPicPr>
          <p:nvPr/>
        </p:nvPicPr>
        <p:blipFill>
          <a:blip r:embed="rId1"/>
          <a:stretch>
            <a:fillRect/>
          </a:stretch>
        </p:blipFill>
        <p:spPr>
          <a:xfrm>
            <a:off x="658368" y="2373055"/>
            <a:ext cx="6675120" cy="3245746"/>
          </a:xfrm>
          <a:prstGeom prst="rect">
            <a:avLst/>
          </a:prstGeom>
        </p:spPr>
      </p:pic>
      <p:sp>
        <p:nvSpPr>
          <p:cNvPr id="5" name="Text 2"/>
          <p:cNvSpPr txBox="1"/>
          <p:nvPr/>
        </p:nvSpPr>
        <p:spPr>
          <a:xfrm>
            <a:off x="7626096" y="1847088"/>
            <a:ext cx="3904488" cy="4297680"/>
          </a:xfrm>
          <a:prstGeom prst="rect">
            <a:avLst/>
          </a:prstGeom>
          <a:noFill/>
          <a:ln/>
        </p:spPr>
        <p:txBody>
          <a:bodyPr wrap="square" lIns="0" tIns="0" rIns="0" bIns="0" rtlCol="0" anchor="ctr"/>
          <a:lstStyle/>
          <a:p>
            <a:pPr marL="342900" indent="-342900">
              <a:lnSpc>
                <a:spcPct val="116000"/>
              </a:lnSpc>
              <a:spcAft>
                <a:spcPts val="900"/>
              </a:spcAft>
              <a:buSzPct val="100000"/>
              <a:buChar char="●"/>
            </a:pPr>
            <a:r>
              <a:rPr lang="en-US" sz="1450" dirty="0">
                <a:solidFill>
                  <a:srgbClr val="1A1A2E"/>
                </a:solidFill>
              </a:rPr>
              <a:t>With U(A) = 0 and U(B) = 1, the probability that leaves a certain X indifferent to the gamble is the utility of X.</a:t>
            </a:r>
            <a:endParaRPr lang="en-US" sz="1450" dirty="0"/>
          </a:p>
          <a:p>
            <a:pPr marL="342900" indent="-342900">
              <a:lnSpc>
                <a:spcPct val="116000"/>
              </a:lnSpc>
              <a:spcAft>
                <a:spcPts val="900"/>
              </a:spcAft>
              <a:buSzPct val="100000"/>
              <a:buChar char="●"/>
            </a:pPr>
            <a:r>
              <a:rPr lang="en-US" sz="1450" dirty="0">
                <a:solidFill>
                  <a:srgbClr val="1A1A2E"/>
                </a:solidFill>
              </a:rPr>
              <a:t>Roll 251250039 fits a relative risk aversion of 0.66, roll 251250002 fits 1.18.</a:t>
            </a:r>
            <a:endParaRPr lang="en-US" sz="1450" dirty="0"/>
          </a:p>
          <a:p>
            <a:pPr marL="342900" indent="-342900">
              <a:lnSpc>
                <a:spcPct val="116000"/>
              </a:lnSpc>
              <a:spcAft>
                <a:spcPts val="900"/>
              </a:spcAft>
              <a:buSzPct val="100000"/>
              <a:buChar char="●"/>
            </a:pPr>
            <a:r>
              <a:rPr lang="en-US" sz="1450" dirty="0">
                <a:solidFill>
                  <a:srgbClr val="1A1A2E"/>
                </a:solidFill>
              </a:rPr>
              <a:t>That coefficient is exactly the A in the lecture's U = E(r) minus half A sigma squared, so it feeds Step 5 directly.</a:t>
            </a:r>
            <a:endParaRPr lang="en-US" sz="1450" dirty="0"/>
          </a:p>
          <a:p>
            <a:pPr marL="342900" indent="-342900">
              <a:lnSpc>
                <a:spcPct val="116000"/>
              </a:lnSpc>
              <a:spcAft>
                <a:spcPts val="900"/>
              </a:spcAft>
              <a:buSzPct val="100000"/>
              <a:buChar char="●"/>
            </a:pPr>
            <a:r>
              <a:rPr lang="en-US" sz="1450" dirty="0">
                <a:solidFill>
                  <a:srgbClr val="1A1A2E"/>
                </a:solidFill>
              </a:rPr>
              <a:t>The dashed line is the log curve the lecture suggests, which is the special case A = 1.</a:t>
            </a:r>
            <a:endParaRPr lang="en-US" sz="1450" dirty="0"/>
          </a:p>
        </p:txBody>
      </p:sp>
      <p:sp>
        <p:nvSpPr>
          <p:cNvPr id="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Step 4: value functions, with one uncomfortable result</a:t>
            </a:r>
            <a:endParaRPr lang="en-US" sz="3000" dirty="0"/>
          </a:p>
        </p:txBody>
      </p:sp>
      <p:sp>
        <p:nvSpPr>
          <p:cNvPr id="3" name="Text 1"/>
          <p:cNvSpPr txBox="1"/>
          <p:nvPr/>
        </p:nvSpPr>
        <p:spPr>
          <a:xfrm>
            <a:off x="658368" y="1371600"/>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Every estimated loss curvature came out above one.</a:t>
            </a:r>
            <a:endParaRPr lang="en-US" sz="1500" dirty="0"/>
          </a:p>
        </p:txBody>
      </p:sp>
      <p:pic>
        <p:nvPicPr>
          <p:cNvPr id="4" name="Image 0" descr="/Users/siddharthjaiswal/Desktop/SEM_7/MBA680/Problem_statement_2/figures/c2_value.png">    </p:cNvPr>
          <p:cNvPicPr>
            <a:picLocks noChangeAspect="1"/>
          </p:cNvPicPr>
          <p:nvPr/>
        </p:nvPicPr>
        <p:blipFill>
          <a:blip r:embed="rId1"/>
          <a:stretch>
            <a:fillRect/>
          </a:stretch>
        </p:blipFill>
        <p:spPr>
          <a:xfrm>
            <a:off x="805560" y="1810512"/>
            <a:ext cx="6380735" cy="4370832"/>
          </a:xfrm>
          <a:prstGeom prst="rect">
            <a:avLst/>
          </a:prstGeom>
        </p:spPr>
      </p:pic>
      <p:sp>
        <p:nvSpPr>
          <p:cNvPr id="5" name="Text 2"/>
          <p:cNvSpPr txBox="1"/>
          <p:nvPr/>
        </p:nvSpPr>
        <p:spPr>
          <a:xfrm>
            <a:off x="7626096" y="1847088"/>
            <a:ext cx="3904488" cy="4297680"/>
          </a:xfrm>
          <a:prstGeom prst="rect">
            <a:avLst/>
          </a:prstGeom>
          <a:noFill/>
          <a:ln/>
        </p:spPr>
        <p:txBody>
          <a:bodyPr wrap="square" lIns="0" tIns="0" rIns="0" bIns="0" rtlCol="0" anchor="ctr"/>
          <a:lstStyle/>
          <a:p>
            <a:pPr marL="342900" indent="-342900">
              <a:lnSpc>
                <a:spcPct val="116000"/>
              </a:lnSpc>
              <a:spcAft>
                <a:spcPts val="900"/>
              </a:spcAft>
              <a:buSzPct val="100000"/>
              <a:buChar char="●"/>
            </a:pPr>
            <a:r>
              <a:rPr lang="en-US" sz="1450" dirty="0">
                <a:solidFill>
                  <a:srgbClr val="1A1A2E"/>
                </a:solidFill>
              </a:rPr>
              <a:t>A curvature above one means the loss limb gets steeper as losses grow.</a:t>
            </a:r>
            <a:endParaRPr lang="en-US" sz="1450" dirty="0"/>
          </a:p>
          <a:p>
            <a:pPr marL="342900" indent="-342900">
              <a:lnSpc>
                <a:spcPct val="116000"/>
              </a:lnSpc>
              <a:spcAft>
                <a:spcPts val="900"/>
              </a:spcAft>
              <a:buSzPct val="100000"/>
              <a:buChar char="●"/>
            </a:pPr>
            <a:r>
              <a:rPr lang="en-US" sz="1450" dirty="0">
                <a:solidFill>
                  <a:srgbClr val="1A1A2E"/>
                </a:solidFill>
              </a:rPr>
              <a:t>Prospect theory predicts the opposite: diminishing sensitivity, a curvature below one.</a:t>
            </a:r>
            <a:endParaRPr lang="en-US" sz="1450" dirty="0"/>
          </a:p>
          <a:p>
            <a:pPr marL="342900" indent="-342900">
              <a:lnSpc>
                <a:spcPct val="116000"/>
              </a:lnSpc>
              <a:spcAft>
                <a:spcPts val="900"/>
              </a:spcAft>
              <a:buSzPct val="100000"/>
              <a:buChar char="●"/>
            </a:pPr>
            <a:r>
              <a:rPr lang="en-US" sz="1450" dirty="0">
                <a:solidFill>
                  <a:srgbClr val="1A1A2E"/>
                </a:solidFill>
              </a:rPr>
              <a:t>Either this group genuinely shows increasing sensitivity to larger losses, which would be an unusual result, or the loss rows were answered with less care than the gain rows.</a:t>
            </a:r>
            <a:endParaRPr lang="en-US" sz="1450" dirty="0"/>
          </a:p>
          <a:p>
            <a:pPr marL="342900" indent="-342900">
              <a:lnSpc>
                <a:spcPct val="116000"/>
              </a:lnSpc>
              <a:spcAft>
                <a:spcPts val="900"/>
              </a:spcAft>
              <a:buSzPct val="100000"/>
              <a:buChar char="●"/>
            </a:pPr>
            <a:r>
              <a:rPr lang="en-US" sz="1450" dirty="0">
                <a:solidFill>
                  <a:srgbClr val="1A1A2E"/>
                </a:solidFill>
              </a:rPr>
              <a:t>The spread statistic supports the second reading. A second pass would separate them.</a:t>
            </a:r>
            <a:endParaRPr lang="en-US" sz="1450" dirty="0"/>
          </a:p>
        </p:txBody>
      </p:sp>
      <p:sp>
        <p:nvSpPr>
          <p:cNvPr id="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Step 5: how much to believe the inputs</a:t>
            </a:r>
            <a:endParaRPr lang="en-US" sz="3000" dirty="0"/>
          </a:p>
        </p:txBody>
      </p:sp>
      <p:sp>
        <p:nvSpPr>
          <p:cNvPr id="3" name="Text 1"/>
          <p:cNvSpPr txBox="1"/>
          <p:nvPr/>
        </p:nvSpPr>
        <p:spPr>
          <a:xfrm>
            <a:off x="658368" y="1426464"/>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Problem Statement 1 reports a Sharpe ratio of 1.03. That is not a number to plan a household around.</a:t>
            </a:r>
            <a:endParaRPr lang="en-US" sz="1500" dirty="0"/>
          </a:p>
        </p:txBody>
      </p:sp>
      <p:sp>
        <p:nvSpPr>
          <p:cNvPr id="4" name="Shape 2"/>
          <p:cNvSpPr/>
          <p:nvPr/>
        </p:nvSpPr>
        <p:spPr>
          <a:xfrm>
            <a:off x="658368" y="1938528"/>
            <a:ext cx="3416808" cy="4133088"/>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5" name="Text 3"/>
          <p:cNvSpPr txBox="1"/>
          <p:nvPr/>
        </p:nvSpPr>
        <p:spPr>
          <a:xfrm>
            <a:off x="969264"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24.9%</a:t>
            </a:r>
            <a:endParaRPr lang="en-US" sz="2600" dirty="0"/>
          </a:p>
        </p:txBody>
      </p:sp>
      <p:sp>
        <p:nvSpPr>
          <p:cNvPr id="6" name="Text 4"/>
          <p:cNvSpPr txBox="1"/>
          <p:nvPr/>
        </p:nvSpPr>
        <p:spPr>
          <a:xfrm>
            <a:off x="969264"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As reported</a:t>
            </a:r>
            <a:endParaRPr lang="en-US" sz="1600" dirty="0"/>
          </a:p>
        </p:txBody>
      </p:sp>
      <p:sp>
        <p:nvSpPr>
          <p:cNvPr id="7" name="Text 5"/>
          <p:cNvSpPr txBox="1"/>
          <p:nvPr/>
        </p:nvSpPr>
        <p:spPr>
          <a:xfrm>
            <a:off x="969264" y="3127248"/>
            <a:ext cx="2795016"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Three-year averages taken over a strong run in Indian equities. The error on a mean estimated that way is roughly 17% a year.</a:t>
            </a:r>
            <a:endParaRPr lang="en-US" sz="1250" dirty="0"/>
          </a:p>
        </p:txBody>
      </p:sp>
      <p:sp>
        <p:nvSpPr>
          <p:cNvPr id="8" name="Shape 6"/>
          <p:cNvSpPr/>
          <p:nvPr/>
        </p:nvSpPr>
        <p:spPr>
          <a:xfrm>
            <a:off x="4386072" y="1938528"/>
            <a:ext cx="3416808" cy="4133088"/>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9" name="Text 7"/>
          <p:cNvSpPr txBox="1"/>
          <p:nvPr/>
        </p:nvSpPr>
        <p:spPr>
          <a:xfrm>
            <a:off x="4696968"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15.2%</a:t>
            </a:r>
            <a:endParaRPr lang="en-US" sz="2600" dirty="0"/>
          </a:p>
        </p:txBody>
      </p:sp>
      <p:sp>
        <p:nvSpPr>
          <p:cNvPr id="10" name="Text 8"/>
          <p:cNvSpPr txBox="1"/>
          <p:nvPr/>
        </p:nvSpPr>
        <p:spPr>
          <a:xfrm>
            <a:off x="4696968"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Base case, used</a:t>
            </a:r>
            <a:endParaRPr lang="en-US" sz="1600" dirty="0"/>
          </a:p>
        </p:txBody>
      </p:sp>
      <p:sp>
        <p:nvSpPr>
          <p:cNvPr id="11" name="Text 9"/>
          <p:cNvSpPr txBox="1"/>
          <p:nvPr/>
        </p:nvSpPr>
        <p:spPr>
          <a:xfrm>
            <a:off x="4696968" y="3127248"/>
            <a:ext cx="2795016"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Expected return cut three quarters of the way back to a long-run figure. Volatility is left untouched, because it is the reliable half of the estimate.</a:t>
            </a:r>
            <a:endParaRPr lang="en-US" sz="1250" dirty="0"/>
          </a:p>
        </p:txBody>
      </p:sp>
      <p:sp>
        <p:nvSpPr>
          <p:cNvPr id="12" name="Shape 10"/>
          <p:cNvSpPr/>
          <p:nvPr/>
        </p:nvSpPr>
        <p:spPr>
          <a:xfrm>
            <a:off x="8113776" y="1938528"/>
            <a:ext cx="3416808" cy="4133088"/>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13" name="Text 11"/>
          <p:cNvSpPr txBox="1"/>
          <p:nvPr/>
        </p:nvSpPr>
        <p:spPr>
          <a:xfrm>
            <a:off x="8424672"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12.0%</a:t>
            </a:r>
            <a:endParaRPr lang="en-US" sz="2600" dirty="0"/>
          </a:p>
        </p:txBody>
      </p:sp>
      <p:sp>
        <p:nvSpPr>
          <p:cNvPr id="14" name="Text 12"/>
          <p:cNvSpPr txBox="1"/>
          <p:nvPr/>
        </p:nvSpPr>
        <p:spPr>
          <a:xfrm>
            <a:off x="8424672"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Stress case</a:t>
            </a:r>
            <a:endParaRPr lang="en-US" sz="1600" dirty="0"/>
          </a:p>
        </p:txBody>
      </p:sp>
      <p:sp>
        <p:nvSpPr>
          <p:cNvPr id="15" name="Text 13"/>
          <p:cNvSpPr txBox="1"/>
          <p:nvPr/>
        </p:nvSpPr>
        <p:spPr>
          <a:xfrm>
            <a:off x="8424672" y="3127248"/>
            <a:ext cx="2795016"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None of the screening premium survives. Reported so the reader can see how much of the advice is the client and how much is the estimate.</a:t>
            </a:r>
            <a:endParaRPr lang="en-US" sz="1250" dirty="0"/>
          </a:p>
        </p:txBody>
      </p:sp>
      <p:sp>
        <p:nvSpPr>
          <p:cNvPr id="1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Step 5: the recommendation, and why it is the same for both</a:t>
            </a:r>
            <a:endParaRPr lang="en-US" sz="3000" dirty="0"/>
          </a:p>
        </p:txBody>
      </p:sp>
      <p:sp>
        <p:nvSpPr>
          <p:cNvPr id="3" name="Text 1"/>
          <p:cNvSpPr txBox="1"/>
          <p:nvPr/>
        </p:nvSpPr>
        <p:spPr>
          <a:xfrm>
            <a:off x="658368" y="1371600"/>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The no-borrowing cap binds in all nine cells.</a:t>
            </a:r>
            <a:endParaRPr lang="en-US" sz="1500" dirty="0"/>
          </a:p>
        </p:txBody>
      </p:sp>
      <p:pic>
        <p:nvPicPr>
          <p:cNvPr id="4" name="Image 0" descr="/Users/siddharthjaiswal/Desktop/SEM_7/MBA680/Problem_statement_2/figures/c7_scenarios.png">    </p:cNvPr>
          <p:cNvPicPr>
            <a:picLocks noChangeAspect="1"/>
          </p:cNvPicPr>
          <p:nvPr/>
        </p:nvPicPr>
        <p:blipFill>
          <a:blip r:embed="rId1"/>
          <a:stretch>
            <a:fillRect/>
          </a:stretch>
        </p:blipFill>
        <p:spPr>
          <a:xfrm>
            <a:off x="658368" y="2449310"/>
            <a:ext cx="6675120" cy="3093236"/>
          </a:xfrm>
          <a:prstGeom prst="rect">
            <a:avLst/>
          </a:prstGeom>
        </p:spPr>
      </p:pic>
      <p:sp>
        <p:nvSpPr>
          <p:cNvPr id="5" name="Text 2"/>
          <p:cNvSpPr txBox="1"/>
          <p:nvPr/>
        </p:nvSpPr>
        <p:spPr>
          <a:xfrm>
            <a:off x="7626096" y="1847088"/>
            <a:ext cx="3904488" cy="4297680"/>
          </a:xfrm>
          <a:prstGeom prst="rect">
            <a:avLst/>
          </a:prstGeom>
          <a:noFill/>
          <a:ln/>
        </p:spPr>
        <p:txBody>
          <a:bodyPr wrap="square" lIns="0" tIns="0" rIns="0" bIns="0" rtlCol="0" anchor="ctr"/>
          <a:lstStyle/>
          <a:p>
            <a:pPr marL="342900" indent="-342900">
              <a:lnSpc>
                <a:spcPct val="116000"/>
              </a:lnSpc>
              <a:spcAft>
                <a:spcPts val="900"/>
              </a:spcAft>
              <a:buSzPct val="100000"/>
              <a:buChar char="●"/>
            </a:pPr>
            <a:r>
              <a:rPr lang="en-US" sz="1450" dirty="0">
                <a:solidFill>
                  <a:srgbClr val="1A1A2E"/>
                </a:solidFill>
              </a:rPr>
              <a:t>Roll 251250039, A = 0.66, unconstrained y* of 4.1 times the corpus.</a:t>
            </a:r>
            <a:endParaRPr lang="en-US" sz="1450" dirty="0"/>
          </a:p>
          <a:p>
            <a:pPr marL="342900" indent="-342900">
              <a:lnSpc>
                <a:spcPct val="116000"/>
              </a:lnSpc>
              <a:spcAft>
                <a:spcPts val="900"/>
              </a:spcAft>
              <a:buSzPct val="100000"/>
              <a:buChar char="●"/>
            </a:pPr>
            <a:r>
              <a:rPr lang="en-US" sz="1450" dirty="0">
                <a:solidFill>
                  <a:srgbClr val="1A1A2E"/>
                </a:solidFill>
              </a:rPr>
              <a:t>Roll 251250002, A = 1.18, unconstrained y* of 2.3 times the corpus.</a:t>
            </a:r>
            <a:endParaRPr lang="en-US" sz="1450" dirty="0"/>
          </a:p>
          <a:p>
            <a:pPr marL="342900" indent="-342900">
              <a:lnSpc>
                <a:spcPct val="116000"/>
              </a:lnSpc>
              <a:spcAft>
                <a:spcPts val="900"/>
              </a:spcAft>
              <a:buSzPct val="100000"/>
              <a:buChar char="●"/>
            </a:pPr>
            <a:r>
              <a:rPr lang="en-US" sz="1450" dirty="0">
                <a:solidFill>
                  <a:srgbClr val="1A1A2E"/>
                </a:solidFill>
              </a:rPr>
              <a:t>Both are advised to hold 100% of their corpus in the Problem Statement 1 portfolio.</a:t>
            </a:r>
            <a:endParaRPr lang="en-US" sz="1450" dirty="0"/>
          </a:p>
          <a:p>
            <a:pPr marL="342900" indent="-342900">
              <a:lnSpc>
                <a:spcPct val="116000"/>
              </a:lnSpc>
              <a:spcAft>
                <a:spcPts val="900"/>
              </a:spcAft>
              <a:buSzPct val="100000"/>
              <a:buChar char="●"/>
            </a:pPr>
            <a:r>
              <a:rPr lang="en-US" sz="1450" dirty="0">
                <a:solidFill>
                  <a:srgbClr val="1A1A2E"/>
                </a:solidFill>
              </a:rPr>
              <a:t>What separates the two respondents is not their preferences. It is whether you believe the expected return.</a:t>
            </a:r>
            <a:endParaRPr lang="en-US" sz="1450" dirty="0"/>
          </a:p>
        </p:txBody>
      </p:sp>
      <p:sp>
        <p:nvSpPr>
          <p:cNvPr id="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Step 6: personality changes the process, not the weights</a:t>
            </a:r>
            <a:endParaRPr lang="en-US" sz="3000" dirty="0"/>
          </a:p>
        </p:txBody>
      </p:sp>
      <p:sp>
        <p:nvSpPr>
          <p:cNvPr id="3" name="Text 1"/>
          <p:cNvSpPr txBox="1"/>
          <p:nvPr/>
        </p:nvSpPr>
        <p:spPr>
          <a:xfrm>
            <a:off x="658368" y="1426464"/>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Risk aversion is already measured directly, so adjusting the equity weight for personality would count the same thing twice.</a:t>
            </a:r>
            <a:endParaRPr lang="en-US" sz="1500" dirty="0"/>
          </a:p>
        </p:txBody>
      </p:sp>
      <p:sp>
        <p:nvSpPr>
          <p:cNvPr id="4" name="Shape 2"/>
          <p:cNvSpPr/>
          <p:nvPr/>
        </p:nvSpPr>
        <p:spPr>
          <a:xfrm>
            <a:off x="658368" y="1938528"/>
            <a:ext cx="2484882" cy="4133088"/>
          </a:xfrm>
          <a:prstGeom prst="roundRect">
            <a:avLst>
              <a:gd name="adj" fmla="val 2208"/>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5" name="Text 3"/>
          <p:cNvSpPr txBox="1"/>
          <p:nvPr/>
        </p:nvSpPr>
        <p:spPr>
          <a:xfrm>
            <a:off x="969264" y="2212848"/>
            <a:ext cx="1863090" cy="420624"/>
          </a:xfrm>
          <a:prstGeom prst="rect">
            <a:avLst/>
          </a:prstGeom>
          <a:noFill/>
          <a:ln/>
        </p:spPr>
        <p:txBody>
          <a:bodyPr wrap="square" lIns="0" tIns="0" rIns="0" bIns="0" rtlCol="0" anchor="ctr"/>
          <a:lstStyle/>
          <a:p>
            <a:pPr indent="0" marL="0">
              <a:buNone/>
            </a:pPr>
            <a:r>
              <a:rPr lang="en-US" sz="1900" b="1" dirty="0">
                <a:solidFill>
                  <a:srgbClr val="E9A13B"/>
                </a:solidFill>
              </a:rPr>
              <a:t>251250039</a:t>
            </a:r>
            <a:endParaRPr lang="en-US" sz="1900" dirty="0"/>
          </a:p>
        </p:txBody>
      </p:sp>
      <p:sp>
        <p:nvSpPr>
          <p:cNvPr id="6" name="Text 4"/>
          <p:cNvSpPr txBox="1"/>
          <p:nvPr/>
        </p:nvSpPr>
        <p:spPr>
          <a:xfrm>
            <a:off x="969264" y="2688336"/>
            <a:ext cx="1863090" cy="402336"/>
          </a:xfrm>
          <a:prstGeom prst="rect">
            <a:avLst/>
          </a:prstGeom>
          <a:noFill/>
          <a:ln/>
        </p:spPr>
        <p:txBody>
          <a:bodyPr wrap="square" lIns="0" tIns="0" rIns="0" bIns="0" rtlCol="0" anchor="ctr"/>
          <a:lstStyle/>
          <a:p>
            <a:pPr indent="0" marL="0">
              <a:buNone/>
            </a:pPr>
            <a:r>
              <a:rPr lang="en-US" sz="1600" b="1" dirty="0">
                <a:solidFill>
                  <a:srgbClr val="1E2761"/>
                </a:solidFill>
              </a:rPr>
              <a:t>Low conscientiousness</a:t>
            </a:r>
            <a:endParaRPr lang="en-US" sz="1600" dirty="0"/>
          </a:p>
        </p:txBody>
      </p:sp>
      <p:sp>
        <p:nvSpPr>
          <p:cNvPr id="7" name="Text 5"/>
          <p:cNvSpPr txBox="1"/>
          <p:nvPr/>
        </p:nvSpPr>
        <p:spPr>
          <a:xfrm>
            <a:off x="969264" y="3127248"/>
            <a:ext cx="1863090"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Will set the plan up and stop watching it. Automate the contribution, rebalance on a threshold, fix review dates in advance.</a:t>
            </a:r>
            <a:endParaRPr lang="en-US" sz="1250" dirty="0"/>
          </a:p>
        </p:txBody>
      </p:sp>
      <p:sp>
        <p:nvSpPr>
          <p:cNvPr id="8" name="Shape 6"/>
          <p:cNvSpPr/>
          <p:nvPr/>
        </p:nvSpPr>
        <p:spPr>
          <a:xfrm>
            <a:off x="3454146" y="1938528"/>
            <a:ext cx="2484882" cy="4133088"/>
          </a:xfrm>
          <a:prstGeom prst="roundRect">
            <a:avLst>
              <a:gd name="adj" fmla="val 2208"/>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9" name="Text 7"/>
          <p:cNvSpPr txBox="1"/>
          <p:nvPr/>
        </p:nvSpPr>
        <p:spPr>
          <a:xfrm>
            <a:off x="3765042" y="2212848"/>
            <a:ext cx="1863090" cy="420624"/>
          </a:xfrm>
          <a:prstGeom prst="rect">
            <a:avLst/>
          </a:prstGeom>
          <a:noFill/>
          <a:ln/>
        </p:spPr>
        <p:txBody>
          <a:bodyPr wrap="square" lIns="0" tIns="0" rIns="0" bIns="0" rtlCol="0" anchor="ctr"/>
          <a:lstStyle/>
          <a:p>
            <a:pPr indent="0" marL="0">
              <a:buNone/>
            </a:pPr>
            <a:r>
              <a:rPr lang="en-US" sz="1900" b="1" dirty="0">
                <a:solidFill>
                  <a:srgbClr val="E9A13B"/>
                </a:solidFill>
              </a:rPr>
              <a:t>251250047</a:t>
            </a:r>
            <a:endParaRPr lang="en-US" sz="1900" dirty="0"/>
          </a:p>
        </p:txBody>
      </p:sp>
      <p:sp>
        <p:nvSpPr>
          <p:cNvPr id="10" name="Text 8"/>
          <p:cNvSpPr txBox="1"/>
          <p:nvPr/>
        </p:nvSpPr>
        <p:spPr>
          <a:xfrm>
            <a:off x="3765042" y="2688336"/>
            <a:ext cx="1863090" cy="402336"/>
          </a:xfrm>
          <a:prstGeom prst="rect">
            <a:avLst/>
          </a:prstGeom>
          <a:noFill/>
          <a:ln/>
        </p:spPr>
        <p:txBody>
          <a:bodyPr wrap="square" lIns="0" tIns="0" rIns="0" bIns="0" rtlCol="0" anchor="ctr"/>
          <a:lstStyle/>
          <a:p>
            <a:pPr indent="0" marL="0">
              <a:buNone/>
            </a:pPr>
            <a:r>
              <a:rPr lang="en-US" sz="1600" b="1" dirty="0">
                <a:solidFill>
                  <a:srgbClr val="1E2761"/>
                </a:solidFill>
              </a:rPr>
              <a:t>Calm but genuinely conservative</a:t>
            </a:r>
            <a:endParaRPr lang="en-US" sz="1600" dirty="0"/>
          </a:p>
        </p:txBody>
      </p:sp>
      <p:sp>
        <p:nvSpPr>
          <p:cNvPr id="11" name="Text 9"/>
          <p:cNvSpPr txBox="1"/>
          <p:nvPr/>
        </p:nvSpPr>
        <p:spPr>
          <a:xfrm>
            <a:off x="3765042" y="3127248"/>
            <a:ext cx="1863090"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Took the certain amount at all eight rows. Low reactivity is not hidden risk tolerance. Use a glide path, not a single large allocation.</a:t>
            </a:r>
            <a:endParaRPr lang="en-US" sz="1250" dirty="0"/>
          </a:p>
        </p:txBody>
      </p:sp>
      <p:sp>
        <p:nvSpPr>
          <p:cNvPr id="12" name="Shape 10"/>
          <p:cNvSpPr/>
          <p:nvPr/>
        </p:nvSpPr>
        <p:spPr>
          <a:xfrm>
            <a:off x="6249924" y="1938528"/>
            <a:ext cx="2484882" cy="4133088"/>
          </a:xfrm>
          <a:prstGeom prst="roundRect">
            <a:avLst>
              <a:gd name="adj" fmla="val 2208"/>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13" name="Text 11"/>
          <p:cNvSpPr txBox="1"/>
          <p:nvPr/>
        </p:nvSpPr>
        <p:spPr>
          <a:xfrm>
            <a:off x="6560820" y="2212848"/>
            <a:ext cx="1863090" cy="420624"/>
          </a:xfrm>
          <a:prstGeom prst="rect">
            <a:avLst/>
          </a:prstGeom>
          <a:noFill/>
          <a:ln/>
        </p:spPr>
        <p:txBody>
          <a:bodyPr wrap="square" lIns="0" tIns="0" rIns="0" bIns="0" rtlCol="0" anchor="ctr"/>
          <a:lstStyle/>
          <a:p>
            <a:pPr indent="0" marL="0">
              <a:buNone/>
            </a:pPr>
            <a:r>
              <a:rPr lang="en-US" sz="1900" b="1" dirty="0">
                <a:solidFill>
                  <a:srgbClr val="E9A13B"/>
                </a:solidFill>
              </a:rPr>
              <a:t>251250002</a:t>
            </a:r>
            <a:endParaRPr lang="en-US" sz="1900" dirty="0"/>
          </a:p>
        </p:txBody>
      </p:sp>
      <p:sp>
        <p:nvSpPr>
          <p:cNvPr id="14" name="Text 12"/>
          <p:cNvSpPr txBox="1"/>
          <p:nvPr/>
        </p:nvSpPr>
        <p:spPr>
          <a:xfrm>
            <a:off x="6560820" y="2688336"/>
            <a:ext cx="1863090" cy="402336"/>
          </a:xfrm>
          <a:prstGeom prst="rect">
            <a:avLst/>
          </a:prstGeom>
          <a:noFill/>
          <a:ln/>
        </p:spPr>
        <p:txBody>
          <a:bodyPr wrap="square" lIns="0" tIns="0" rIns="0" bIns="0" rtlCol="0" anchor="ctr"/>
          <a:lstStyle/>
          <a:p>
            <a:pPr indent="0" marL="0">
              <a:buNone/>
            </a:pPr>
            <a:r>
              <a:rPr lang="en-US" sz="1600" b="1" dirty="0">
                <a:solidFill>
                  <a:srgbClr val="1E2761"/>
                </a:solidFill>
              </a:rPr>
              <a:t>Reasons in rupees</a:t>
            </a:r>
            <a:endParaRPr lang="en-US" sz="1600" dirty="0"/>
          </a:p>
        </p:txBody>
      </p:sp>
      <p:sp>
        <p:nvSpPr>
          <p:cNvPr id="15" name="Text 13"/>
          <p:cNvSpPr txBox="1"/>
          <p:nvPr/>
        </p:nvSpPr>
        <p:spPr>
          <a:xfrm>
            <a:off x="6560820" y="3127248"/>
            <a:ext cx="1863090"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Risk seeking at small stakes, cautious at real money. Frame everything in rupees, including the downside case.</a:t>
            </a:r>
            <a:endParaRPr lang="en-US" sz="1250" dirty="0"/>
          </a:p>
        </p:txBody>
      </p:sp>
      <p:sp>
        <p:nvSpPr>
          <p:cNvPr id="16" name="Shape 14"/>
          <p:cNvSpPr/>
          <p:nvPr/>
        </p:nvSpPr>
        <p:spPr>
          <a:xfrm>
            <a:off x="9045702" y="1938528"/>
            <a:ext cx="2484882" cy="4133088"/>
          </a:xfrm>
          <a:prstGeom prst="roundRect">
            <a:avLst>
              <a:gd name="adj" fmla="val 2208"/>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17" name="Text 15"/>
          <p:cNvSpPr txBox="1"/>
          <p:nvPr/>
        </p:nvSpPr>
        <p:spPr>
          <a:xfrm>
            <a:off x="9356598" y="2212848"/>
            <a:ext cx="1863090" cy="420624"/>
          </a:xfrm>
          <a:prstGeom prst="rect">
            <a:avLst/>
          </a:prstGeom>
          <a:noFill/>
          <a:ln/>
        </p:spPr>
        <p:txBody>
          <a:bodyPr wrap="square" lIns="0" tIns="0" rIns="0" bIns="0" rtlCol="0" anchor="ctr"/>
          <a:lstStyle/>
          <a:p>
            <a:pPr indent="0" marL="0">
              <a:buNone/>
            </a:pPr>
            <a:r>
              <a:rPr lang="en-US" sz="1900" b="1" dirty="0">
                <a:solidFill>
                  <a:srgbClr val="E9A13B"/>
                </a:solidFill>
              </a:rPr>
              <a:t>251250030</a:t>
            </a:r>
            <a:endParaRPr lang="en-US" sz="1900" dirty="0"/>
          </a:p>
        </p:txBody>
      </p:sp>
      <p:sp>
        <p:nvSpPr>
          <p:cNvPr id="18" name="Text 16"/>
          <p:cNvSpPr txBox="1"/>
          <p:nvPr/>
        </p:nvSpPr>
        <p:spPr>
          <a:xfrm>
            <a:off x="9356598" y="2688336"/>
            <a:ext cx="1863090" cy="402336"/>
          </a:xfrm>
          <a:prstGeom prst="rect">
            <a:avLst/>
          </a:prstGeom>
          <a:noFill/>
          <a:ln/>
        </p:spPr>
        <p:txBody>
          <a:bodyPr wrap="square" lIns="0" tIns="0" rIns="0" bIns="0" rtlCol="0" anchor="ctr"/>
          <a:lstStyle/>
          <a:p>
            <a:pPr indent="0" marL="0">
              <a:buNone/>
            </a:pPr>
            <a:r>
              <a:rPr lang="en-US" sz="1600" b="1" dirty="0">
                <a:solidFill>
                  <a:srgbClr val="1E2761"/>
                </a:solidFill>
              </a:rPr>
              <a:t>Re-interview first</a:t>
            </a:r>
            <a:endParaRPr lang="en-US" sz="1600" dirty="0"/>
          </a:p>
        </p:txBody>
      </p:sp>
      <p:sp>
        <p:nvSpPr>
          <p:cNvPr id="19" name="Text 17"/>
          <p:cNvSpPr txBox="1"/>
          <p:nvPr/>
        </p:nvSpPr>
        <p:spPr>
          <a:xfrm>
            <a:off x="9356598" y="3127248"/>
            <a:ext cx="1863090" cy="2651760"/>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Refused every delay even at 34% a year, and left two tables unusable. Likely a short-term cash need or a quick fill-in.</a:t>
            </a:r>
            <a:endParaRPr lang="en-US" sz="1250" dirty="0"/>
          </a:p>
        </p:txBody>
      </p:sp>
      <p:sp>
        <p:nvSpPr>
          <p:cNvPr id="21"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What is missing, and the four questions that fix it</a:t>
            </a:r>
            <a:endParaRPr lang="en-US" sz="3000" dirty="0"/>
          </a:p>
        </p:txBody>
      </p:sp>
      <p:sp>
        <p:nvSpPr>
          <p:cNvPr id="3" name="Text 1"/>
          <p:cNvSpPr txBox="1"/>
          <p:nvPr/>
        </p:nvSpPr>
        <p:spPr>
          <a:xfrm>
            <a:off x="658368" y="1426464"/>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Each is one line. Together they take about a minute, and they are already live in our portal, marked as extensions to the class form.</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993392"/>
          <a:ext cx="10872216" cy="914400"/>
        </p:xfrm>
        <a:graphic>
          <a:graphicData uri="http://schemas.openxmlformats.org/drawingml/2006/table">
            <a:tbl>
              <a:tblPr/>
              <a:tblGrid>
                <a:gridCol w="640080"/>
                <a:gridCol w="6309360"/>
                <a:gridCol w="3931920"/>
              </a:tblGrid>
              <a:tr h="384048">
                <a:tc>
                  <a:txBody>
                    <a:bodyPr/>
                    <a:lstStyle/>
                    <a:p>
                      <a:pPr indent="0" marL="0">
                        <a:buNone/>
                      </a:pP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Question</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unlocks</a:t>
                      </a:r>
                      <a:endParaRPr lang="en-US" sz="120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E1</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Tails you lose Rs 10,000, heads you win G. How big must G be?</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Loss aversion</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A1A2E"/>
                          </a:solidFill>
                        </a:rPr>
                        <a:t>E2</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A 10% chance of Rs 10,000. What certain amount feels as good? Same at 90%.</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Probability weighting</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r>
              <a:tr h="384048">
                <a:tc>
                  <a:txBody>
                    <a:bodyPr/>
                    <a:lstStyle/>
                    <a:p>
                      <a:pPr indent="0" marL="0">
                        <a:buNone/>
                      </a:pPr>
                      <a:r>
                        <a:rPr lang="en-US" sz="1250" dirty="0">
                          <a:solidFill>
                            <a:srgbClr val="1A1A2E"/>
                          </a:solidFill>
                        </a:rPr>
                        <a:t>E3</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Smallest amount you must still have, and how often you could fall below it.</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The safety layer</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A1A2E"/>
                          </a:solidFill>
                        </a:rPr>
                        <a:t>E4</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The amount you would call success, and what you would pay for a better shot.</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c>
                  <a:txBody>
                    <a:bodyPr/>
                    <a:lstStyle/>
                    <a:p>
                      <a:pPr indent="0" marL="0">
                        <a:buNone/>
                      </a:pPr>
                      <a:r>
                        <a:rPr lang="en-US" sz="1250" dirty="0">
                          <a:solidFill>
                            <a:srgbClr val="1A1A2E"/>
                          </a:solidFill>
                        </a:rPr>
                        <a:t>The aspiration layer</a:t>
                      </a:r>
                      <a:endParaRPr lang="en-US" sz="1250" dirty="0"/>
                    </a:p>
                  </a:txBody>
                  <a:tcPr marL="82296" marR="82296" marT="82296" marB="82296" anchor="ctr">
                    <a:lnL w="12700" cap="flat" cmpd="sng" algn="ctr">
                      <a:solidFill>
                        <a:srgbClr val="DFE5F2"/>
                      </a:solidFill>
                      <a:prstDash val="solid"/>
                      <a:round/>
                      <a:headEnd type="none" w="med" len="med"/>
                      <a:tailEnd type="none" w="med" len="med"/>
                    </a:lnL>
                    <a:lnR w="12700" cap="flat" cmpd="sng" algn="ctr">
                      <a:solidFill>
                        <a:srgbClr val="DFE5F2"/>
                      </a:solidFill>
                      <a:prstDash val="solid"/>
                      <a:round/>
                      <a:headEnd type="none" w="med" len="med"/>
                      <a:tailEnd type="none" w="med" len="med"/>
                    </a:lnR>
                    <a:lnT w="12700" cap="flat" cmpd="sng" algn="ctr">
                      <a:solidFill>
                        <a:srgbClr val="DFE5F2"/>
                      </a:solidFill>
                      <a:prstDash val="solid"/>
                      <a:round/>
                      <a:headEnd type="none" w="med" len="med"/>
                      <a:tailEnd type="none" w="med" len="med"/>
                    </a:lnT>
                    <a:lnB w="12700" cap="flat" cmpd="sng" algn="ctr">
                      <a:solidFill>
                        <a:srgbClr val="DFE5F2"/>
                      </a:solidFill>
                      <a:prstDash val="solid"/>
                      <a:round/>
                      <a:headEnd type="none" w="med" len="med"/>
                      <a:tailEnd type="none" w="med" len="med"/>
                    </a:lnB>
                    <a:solidFill>
                      <a:srgbClr val="F6F8FD"/>
                    </a:solidFill>
                  </a:tcPr>
                </a:tc>
              </a:tr>
            </a:tbl>
          </a:graphicData>
        </a:graphic>
      </p:graphicFrame>
      <p:sp>
        <p:nvSpPr>
          <p:cNvPr id="5" name="Text 2"/>
          <p:cNvSpPr txBox="1"/>
          <p:nvPr/>
        </p:nvSpPr>
        <p:spPr>
          <a:xfrm>
            <a:off x="658368" y="5742432"/>
            <a:ext cx="10872216" cy="548640"/>
          </a:xfrm>
          <a:prstGeom prst="rect">
            <a:avLst/>
          </a:prstGeom>
          <a:noFill/>
          <a:ln/>
        </p:spPr>
        <p:txBody>
          <a:bodyPr wrap="square" lIns="0" tIns="0" rIns="0" bIns="0" rtlCol="0" anchor="ctr"/>
          <a:lstStyle/>
          <a:p>
            <a:pPr indent="0" marL="0">
              <a:lnSpc>
                <a:spcPct val="120000"/>
              </a:lnSpc>
              <a:buNone/>
            </a:pPr>
            <a:r>
              <a:rPr lang="en-US" sz="1300" i="1" dirty="0">
                <a:solidFill>
                  <a:srgbClr val="55607A"/>
                </a:solidFill>
              </a:rPr>
              <a:t>Without these four, the safety and potential split is the adviser's judgement wearing the respondent's data as a costume.</a:t>
            </a:r>
            <a:endParaRPr lang="en-US" sz="1300" dirty="0"/>
          </a:p>
        </p:txBody>
      </p:sp>
      <p:sp>
        <p:nvSpPr>
          <p:cNvPr id="7"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58368" y="475488"/>
            <a:ext cx="10872216" cy="786384"/>
          </a:xfrm>
          <a:prstGeom prst="rect">
            <a:avLst/>
          </a:prstGeom>
          <a:noFill/>
          <a:ln/>
        </p:spPr>
        <p:txBody>
          <a:bodyPr wrap="square" rtlCol="0" anchor="ctr"/>
          <a:lstStyle/>
          <a:p>
            <a:pPr indent="0" marL="0">
              <a:buNone/>
            </a:pPr>
            <a:r>
              <a:rPr lang="en-US" sz="3000" b="1" dirty="0">
                <a:solidFill>
                  <a:srgbClr val="1E2761"/>
                </a:solidFill>
              </a:rPr>
              <a:t>The robo-advisory portal</a:t>
            </a:r>
            <a:endParaRPr lang="en-US" sz="3000" dirty="0"/>
          </a:p>
        </p:txBody>
      </p:sp>
      <p:sp>
        <p:nvSpPr>
          <p:cNvPr id="3" name="Text 1"/>
          <p:cNvSpPr txBox="1"/>
          <p:nvPr/>
        </p:nvSpPr>
        <p:spPr>
          <a:xfrm>
            <a:off x="658368" y="1426464"/>
            <a:ext cx="10872216" cy="384048"/>
          </a:xfrm>
          <a:prstGeom prst="rect">
            <a:avLst/>
          </a:prstGeom>
          <a:noFill/>
          <a:ln/>
        </p:spPr>
        <p:txBody>
          <a:bodyPr wrap="square" lIns="0" tIns="0" rIns="0" bIns="0" rtlCol="0" anchor="ctr"/>
          <a:lstStyle/>
          <a:p>
            <a:pPr indent="0" marL="0">
              <a:buNone/>
            </a:pPr>
            <a:r>
              <a:rPr lang="en-US" sz="1500" i="1" dirty="0">
                <a:solidFill>
                  <a:srgbClr val="55607A"/>
                </a:solidFill>
              </a:rPr>
              <a:t>A single static page, no server and no account, so it opens on a phone in a classroom.</a:t>
            </a:r>
            <a:endParaRPr lang="en-US" sz="1500" dirty="0"/>
          </a:p>
        </p:txBody>
      </p:sp>
      <p:sp>
        <p:nvSpPr>
          <p:cNvPr id="4" name="Shape 2"/>
          <p:cNvSpPr/>
          <p:nvPr/>
        </p:nvSpPr>
        <p:spPr>
          <a:xfrm>
            <a:off x="658368" y="1938528"/>
            <a:ext cx="3416808" cy="3840480"/>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5" name="Text 3"/>
          <p:cNvSpPr txBox="1"/>
          <p:nvPr/>
        </p:nvSpPr>
        <p:spPr>
          <a:xfrm>
            <a:off x="969264"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01</a:t>
            </a:r>
            <a:endParaRPr lang="en-US" sz="2600" dirty="0"/>
          </a:p>
        </p:txBody>
      </p:sp>
      <p:sp>
        <p:nvSpPr>
          <p:cNvPr id="6" name="Text 4"/>
          <p:cNvSpPr txBox="1"/>
          <p:nvPr/>
        </p:nvSpPr>
        <p:spPr>
          <a:xfrm>
            <a:off x="969264"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Fields the whole form</a:t>
            </a:r>
            <a:endParaRPr lang="en-US" sz="1600" dirty="0"/>
          </a:p>
        </p:txBody>
      </p:sp>
      <p:sp>
        <p:nvSpPr>
          <p:cNvPr id="7" name="Text 5"/>
          <p:cNvSpPr txBox="1"/>
          <p:nvPr/>
        </p:nvSpPr>
        <p:spPr>
          <a:xfrm>
            <a:off x="969264" y="3127248"/>
            <a:ext cx="2795016" cy="2359152"/>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All six class sections plus the four extensions, in plain English, with autosave and a one-click export of the respondent's answers.</a:t>
            </a:r>
            <a:endParaRPr lang="en-US" sz="1250" dirty="0"/>
          </a:p>
        </p:txBody>
      </p:sp>
      <p:sp>
        <p:nvSpPr>
          <p:cNvPr id="8" name="Shape 6"/>
          <p:cNvSpPr/>
          <p:nvPr/>
        </p:nvSpPr>
        <p:spPr>
          <a:xfrm>
            <a:off x="4386072" y="1938528"/>
            <a:ext cx="3416808" cy="3840480"/>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9" name="Text 7"/>
          <p:cNvSpPr txBox="1"/>
          <p:nvPr/>
        </p:nvSpPr>
        <p:spPr>
          <a:xfrm>
            <a:off x="4696968"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02</a:t>
            </a:r>
            <a:endParaRPr lang="en-US" sz="2600" dirty="0"/>
          </a:p>
        </p:txBody>
      </p:sp>
      <p:sp>
        <p:nvSpPr>
          <p:cNvPr id="10" name="Text 8"/>
          <p:cNvSpPr txBox="1"/>
          <p:nvPr/>
        </p:nvSpPr>
        <p:spPr>
          <a:xfrm>
            <a:off x="4696968"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Fits and plots live</a:t>
            </a:r>
            <a:endParaRPr lang="en-US" sz="1600" dirty="0"/>
          </a:p>
        </p:txBody>
      </p:sp>
      <p:sp>
        <p:nvSpPr>
          <p:cNvPr id="11" name="Text 9"/>
          <p:cNvSpPr txBox="1"/>
          <p:nvPr/>
        </p:nvSpPr>
        <p:spPr>
          <a:xfrm>
            <a:off x="4696968" y="3127248"/>
            <a:ext cx="2795016" cy="2359152"/>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Draws the respondent's own utility curve, value function and weighting function in the browser, using the same estimators as the report.</a:t>
            </a:r>
            <a:endParaRPr lang="en-US" sz="1250" dirty="0"/>
          </a:p>
        </p:txBody>
      </p:sp>
      <p:sp>
        <p:nvSpPr>
          <p:cNvPr id="12" name="Shape 10"/>
          <p:cNvSpPr/>
          <p:nvPr/>
        </p:nvSpPr>
        <p:spPr>
          <a:xfrm>
            <a:off x="8113776" y="1938528"/>
            <a:ext cx="3416808" cy="3840480"/>
          </a:xfrm>
          <a:prstGeom prst="roundRect">
            <a:avLst>
              <a:gd name="adj" fmla="val 1606"/>
            </a:avLst>
          </a:prstGeom>
          <a:solidFill>
            <a:srgbClr val="FFFFFF"/>
          </a:solidFill>
          <a:ln w="12700">
            <a:solidFill>
              <a:srgbClr val="DFE5F2"/>
            </a:solidFill>
            <a:prstDash val="solid"/>
          </a:ln>
          <a:effectLst>
            <a:outerShdw sx="100000" sy="100000" kx="0" ky="0" algn="bl" rotWithShape="0" blurRad="127000" dist="25400" dir="5400000">
              <a:srgbClr val="1E2761">
                <a:alpha val="10000"/>
              </a:srgbClr>
            </a:outerShdw>
          </a:effectLst>
        </p:spPr>
      </p:sp>
      <p:sp>
        <p:nvSpPr>
          <p:cNvPr id="13" name="Text 11"/>
          <p:cNvSpPr txBox="1"/>
          <p:nvPr/>
        </p:nvSpPr>
        <p:spPr>
          <a:xfrm>
            <a:off x="8424672" y="2212848"/>
            <a:ext cx="2795016" cy="420624"/>
          </a:xfrm>
          <a:prstGeom prst="rect">
            <a:avLst/>
          </a:prstGeom>
          <a:noFill/>
          <a:ln/>
        </p:spPr>
        <p:txBody>
          <a:bodyPr wrap="square" lIns="0" tIns="0" rIns="0" bIns="0" rtlCol="0" anchor="ctr"/>
          <a:lstStyle/>
          <a:p>
            <a:pPr indent="0" marL="0">
              <a:buNone/>
            </a:pPr>
            <a:r>
              <a:rPr lang="en-US" sz="2600" b="1" dirty="0">
                <a:solidFill>
                  <a:srgbClr val="E9A13B"/>
                </a:solidFill>
              </a:rPr>
              <a:t>03</a:t>
            </a:r>
            <a:endParaRPr lang="en-US" sz="2600" dirty="0"/>
          </a:p>
        </p:txBody>
      </p:sp>
      <p:sp>
        <p:nvSpPr>
          <p:cNvPr id="14" name="Text 12"/>
          <p:cNvSpPr txBox="1"/>
          <p:nvPr/>
        </p:nvSpPr>
        <p:spPr>
          <a:xfrm>
            <a:off x="8424672" y="2688336"/>
            <a:ext cx="2795016" cy="402336"/>
          </a:xfrm>
          <a:prstGeom prst="rect">
            <a:avLst/>
          </a:prstGeom>
          <a:noFill/>
          <a:ln/>
        </p:spPr>
        <p:txBody>
          <a:bodyPr wrap="square" lIns="0" tIns="0" rIns="0" bIns="0" rtlCol="0" anchor="ctr"/>
          <a:lstStyle/>
          <a:p>
            <a:pPr indent="0" marL="0">
              <a:buNone/>
            </a:pPr>
            <a:r>
              <a:rPr lang="en-US" sz="1600" b="1" dirty="0">
                <a:solidFill>
                  <a:srgbClr val="1E2761"/>
                </a:solidFill>
              </a:rPr>
              <a:t>Builds both portfolios</a:t>
            </a:r>
            <a:endParaRPr lang="en-US" sz="1600" dirty="0"/>
          </a:p>
        </p:txBody>
      </p:sp>
      <p:sp>
        <p:nvSpPr>
          <p:cNvPr id="15" name="Text 13"/>
          <p:cNvSpPr txBox="1"/>
          <p:nvPr/>
        </p:nvSpPr>
        <p:spPr>
          <a:xfrm>
            <a:off x="8424672" y="3127248"/>
            <a:ext cx="2795016" cy="2359152"/>
          </a:xfrm>
          <a:prstGeom prst="rect">
            <a:avLst/>
          </a:prstGeom>
          <a:noFill/>
          <a:ln/>
        </p:spPr>
        <p:txBody>
          <a:bodyPr wrap="square" lIns="0" tIns="0" rIns="0" bIns="0" rtlCol="0" anchor="t"/>
          <a:lstStyle/>
          <a:p>
            <a:pPr indent="0" marL="0">
              <a:lnSpc>
                <a:spcPct val="120000"/>
              </a:lnSpc>
              <a:buNone/>
            </a:pPr>
            <a:r>
              <a:rPr lang="en-US" sz="1250" dirty="0">
                <a:solidFill>
                  <a:srgbClr val="55607A"/>
                </a:solidFill>
              </a:rPr>
              <a:t>The mean-variance allocation and the behavioral layers, against the real Problem Statement 1 frontier, with the advisory commentary generated from their own scores.</a:t>
            </a:r>
            <a:endParaRPr lang="en-US" sz="1250" dirty="0"/>
          </a:p>
        </p:txBody>
      </p:sp>
      <p:sp>
        <p:nvSpPr>
          <p:cNvPr id="16" name="Text 14"/>
          <p:cNvSpPr txBox="1"/>
          <p:nvPr/>
        </p:nvSpPr>
        <p:spPr>
          <a:xfrm>
            <a:off x="658368" y="5870448"/>
            <a:ext cx="10872216" cy="310896"/>
          </a:xfrm>
          <a:prstGeom prst="rect">
            <a:avLst/>
          </a:prstGeom>
          <a:noFill/>
          <a:ln/>
        </p:spPr>
        <p:txBody>
          <a:bodyPr wrap="square" lIns="0" tIns="0" rIns="0" bIns="0" rtlCol="0" anchor="ctr"/>
          <a:lstStyle/>
          <a:p>
            <a:pPr algn="ctr" indent="0" marL="0">
              <a:buNone/>
            </a:pPr>
            <a:r>
              <a:rPr lang="en-US" sz="1300" b="1" dirty="0">
                <a:solidFill>
                  <a:srgbClr val="1E2761"/>
                </a:solidFill>
              </a:rPr>
              <a:t>siddharthjaiswal05.github.io/mba_680_assignment_2</a:t>
            </a:r>
            <a:endParaRPr lang="en-US" sz="1300" dirty="0"/>
          </a:p>
        </p:txBody>
      </p:sp>
      <p:sp>
        <p:nvSpPr>
          <p:cNvPr id="18" name="Text 1"/>
          <p:cNvSpPr/>
          <p:nvPr>
            <p:ph idx="102" hasCustomPrompt="1"/>
          </p:nvPr>
        </p:nvSpPr>
        <p:spPr>
          <a:xfrm>
            <a:off x="10981944" y="6382512"/>
            <a:ext cx="548640" cy="274320"/>
          </a:xfrm>
          <a:prstGeom prst="rect">
            <a:avLst/>
          </a:prstGeom>
          <a:noFill/>
          <a:ln/>
        </p:spPr>
        <p:txBody>
          <a:bodyPr wrap="square" rtlCol="0"/>
          <a:lstStyle/>
          <a:p>
            <a:pPr algn="r" indent="0" marL="0">
              <a:buNone/>
            </a:pP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58368" y="868680"/>
            <a:ext cx="10872216" cy="310896"/>
          </a:xfrm>
          <a:prstGeom prst="rect">
            <a:avLst/>
          </a:prstGeom>
          <a:noFill/>
          <a:ln/>
        </p:spPr>
        <p:txBody>
          <a:bodyPr wrap="square" lIns="0" tIns="0" rIns="0" bIns="0" rtlCol="0" anchor="ctr"/>
          <a:lstStyle/>
          <a:p>
            <a:pPr indent="0" marL="0">
              <a:buNone/>
            </a:pPr>
            <a:r>
              <a:rPr lang="en-US" sz="1300" b="1" spc="240" kern="0" dirty="0">
                <a:solidFill>
                  <a:srgbClr val="E9A13B"/>
                </a:solidFill>
              </a:rPr>
              <a:t>IN CLOSING</a:t>
            </a:r>
            <a:endParaRPr lang="en-US" sz="1300" dirty="0"/>
          </a:p>
        </p:txBody>
      </p:sp>
      <p:sp>
        <p:nvSpPr>
          <p:cNvPr id="3" name="Text 1"/>
          <p:cNvSpPr txBox="1"/>
          <p:nvPr/>
        </p:nvSpPr>
        <p:spPr>
          <a:xfrm>
            <a:off x="658368" y="1298448"/>
            <a:ext cx="9774936" cy="731520"/>
          </a:xfrm>
          <a:prstGeom prst="rect">
            <a:avLst/>
          </a:prstGeom>
          <a:noFill/>
          <a:ln/>
        </p:spPr>
        <p:txBody>
          <a:bodyPr wrap="square" lIns="0" tIns="0" rIns="0" bIns="0" rtlCol="0" anchor="ctr"/>
          <a:lstStyle/>
          <a:p>
            <a:pPr indent="0" marL="0">
              <a:buNone/>
            </a:pPr>
            <a:r>
              <a:rPr lang="en-US" sz="3400" b="1" dirty="0">
                <a:solidFill>
                  <a:srgbClr val="FFFFFF"/>
                </a:solidFill>
              </a:rPr>
              <a:t>What we would say to the client</a:t>
            </a:r>
            <a:endParaRPr lang="en-US" sz="3400" dirty="0"/>
          </a:p>
        </p:txBody>
      </p:sp>
      <p:sp>
        <p:nvSpPr>
          <p:cNvPr id="4" name="Text 2"/>
          <p:cNvSpPr txBox="1"/>
          <p:nvPr/>
        </p:nvSpPr>
        <p:spPr>
          <a:xfrm>
            <a:off x="658368" y="2286000"/>
            <a:ext cx="9043416" cy="2743200"/>
          </a:xfrm>
          <a:prstGeom prst="rect">
            <a:avLst/>
          </a:prstGeom>
          <a:noFill/>
          <a:ln/>
        </p:spPr>
        <p:txBody>
          <a:bodyPr wrap="square" lIns="0" tIns="0" rIns="0" bIns="0" rtlCol="0" anchor="ctr"/>
          <a:lstStyle/>
          <a:p>
            <a:pPr marL="342900" indent="-342900">
              <a:lnSpc>
                <a:spcPct val="120000"/>
              </a:lnSpc>
              <a:spcAft>
                <a:spcPts val="1100"/>
              </a:spcAft>
              <a:buSzPct val="100000"/>
              <a:buChar char="●"/>
            </a:pPr>
            <a:r>
              <a:rPr lang="en-US" sz="1550" dirty="0">
                <a:solidFill>
                  <a:srgbClr val="CADCFC"/>
                </a:solidFill>
              </a:rPr>
              <a:t>Hold the Problem Statement 1 portfolio, and hold all of it, if you are either of the two respondents whose data we could use.</a:t>
            </a:r>
            <a:endParaRPr lang="en-US" sz="1550" dirty="0"/>
          </a:p>
          <a:p>
            <a:pPr marL="342900" indent="-342900">
              <a:lnSpc>
                <a:spcPct val="120000"/>
              </a:lnSpc>
              <a:spcAft>
                <a:spcPts val="1100"/>
              </a:spcAft>
              <a:buSzPct val="100000"/>
              <a:buChar char="●"/>
            </a:pPr>
            <a:r>
              <a:rPr lang="en-US" sz="1550" dirty="0">
                <a:solidFill>
                  <a:srgbClr val="CADCFC"/>
                </a:solidFill>
              </a:rPr>
              <a:t>Do not read the risk ladder as a measure of how risk averse you are. It cannot be one.</a:t>
            </a:r>
            <a:endParaRPr lang="en-US" sz="1550" dirty="0"/>
          </a:p>
          <a:p>
            <a:pPr marL="342900" indent="-342900">
              <a:lnSpc>
                <a:spcPct val="120000"/>
              </a:lnSpc>
              <a:spcAft>
                <a:spcPts val="1100"/>
              </a:spcAft>
              <a:buSzPct val="100000"/>
              <a:buChar char="●"/>
            </a:pPr>
            <a:r>
              <a:rPr lang="en-US" sz="1550" dirty="0">
                <a:solidFill>
                  <a:srgbClr val="CADCFC"/>
                </a:solidFill>
              </a:rPr>
              <a:t>Answer four more questions and we can size your safety layer instead of asserting it.</a:t>
            </a:r>
            <a:endParaRPr lang="en-US" sz="1550" dirty="0"/>
          </a:p>
          <a:p>
            <a:pPr marL="342900" indent="-342900">
              <a:lnSpc>
                <a:spcPct val="120000"/>
              </a:lnSpc>
              <a:spcAft>
                <a:spcPts val="1100"/>
              </a:spcAft>
              <a:buSzPct val="100000"/>
              <a:buChar char="●"/>
            </a:pPr>
            <a:r>
              <a:rPr lang="en-US" sz="1550" dirty="0">
                <a:solidFill>
                  <a:srgbClr val="CADCFC"/>
                </a:solidFill>
              </a:rPr>
              <a:t>Treat the expected return, not your own preferences, as the thing most likely to be wrong.</a:t>
            </a:r>
            <a:endParaRPr lang="en-US" sz="1550" dirty="0"/>
          </a:p>
        </p:txBody>
      </p:sp>
      <p:sp>
        <p:nvSpPr>
          <p:cNvPr id="5" name="Text 3"/>
          <p:cNvSpPr txBox="1"/>
          <p:nvPr/>
        </p:nvSpPr>
        <p:spPr>
          <a:xfrm>
            <a:off x="658368" y="5724144"/>
            <a:ext cx="10872216" cy="347472"/>
          </a:xfrm>
          <a:prstGeom prst="rect">
            <a:avLst/>
          </a:prstGeom>
          <a:noFill/>
          <a:ln/>
        </p:spPr>
        <p:txBody>
          <a:bodyPr wrap="square" lIns="0" tIns="0" rIns="0" bIns="0" rtlCol="0" anchor="ctr"/>
          <a:lstStyle/>
          <a:p>
            <a:pPr indent="0" marL="0">
              <a:buNone/>
            </a:pPr>
            <a:r>
              <a:rPr lang="en-US" sz="1400" b="1" dirty="0">
                <a:solidFill>
                  <a:srgbClr val="FFFFFF"/>
                </a:solidFill>
              </a:rPr>
              <a:t>Abhinav Raj      Raghav Patidar      Shubham Raj      Siddharth Jaiswal</a:t>
            </a:r>
            <a:endParaRPr lang="en-US" sz="1400" dirty="0"/>
          </a:p>
        </p:txBody>
      </p:sp>
      <p:sp>
        <p:nvSpPr>
          <p:cNvPr id="7" name="Text 0"/>
          <p:cNvSpPr/>
          <p:nvPr>
            <p:ph idx="100" type="title" hasCustomPrompt="1"/>
          </p:nvPr>
        </p:nvSpPr>
        <p:spPr>
          <a:xfrm>
            <a:off x="658368" y="2148840"/>
            <a:ext cx="9774936" cy="1737360"/>
          </a:xfrm>
          <a:prstGeom prst="rect">
            <a:avLst/>
          </a:prstGeom>
          <a:noFill/>
          <a:ln/>
        </p:spPr>
        <p:txBody>
          <a:bodyPr wrap="square" rtlCol="0" anchor="b"/>
          <a:lstStyle/>
          <a:p>
            <a:pPr indent="0" marL="0">
              <a:buNone/>
            </a:pPr>
            <a:endParaRPr lang="en-US" sz="4000" dirty="0"/>
          </a:p>
        </p:txBody>
      </p:sp>
      <p:sp>
        <p:nvSpPr>
          <p:cNvPr id="8" name="Text 0"/>
          <p:cNvSpPr/>
          <p:nvPr>
            <p:ph idx="101" type="body" hasCustomPrompt="1"/>
          </p:nvPr>
        </p:nvSpPr>
        <p:spPr>
          <a:xfrm>
            <a:off x="658368" y="4069080"/>
            <a:ext cx="8677656" cy="1737360"/>
          </a:xfrm>
          <a:prstGeom prst="rect">
            <a:avLst/>
          </a:prstGeom>
          <a:noFill/>
          <a:ln/>
        </p:spPr>
        <p:txBody>
          <a:bodyPr wrap="square" rtlCol="0" anchor="t"/>
          <a:lstStyle/>
          <a:p>
            <a:pPr indent="0" marL="0">
              <a:buNone/>
            </a:pP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IIT Kanpur, MBA680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MBA680 Personal Investment Advisor and Robo-Advisory Design</dc:title>
  <dc:subject>PptxGenJS Presentation</dc:subject>
  <dc:creator>Abhinav Raj, Raghav Patidar, Shubham Raj, Siddharth Jaiswal</dc:creator>
  <cp:lastModifiedBy>Abhinav Raj, Raghav Patidar, Shubham Raj, Siddharth Jaiswal</cp:lastModifiedBy>
  <cp:revision>1</cp:revision>
  <dcterms:created xsi:type="dcterms:W3CDTF">2026-10-05T18:21:12Z</dcterms:created>
  <dcterms:modified xsi:type="dcterms:W3CDTF">2026-10-05T18:21:12Z</dcterms:modified>
</cp:coreProperties>
</file>