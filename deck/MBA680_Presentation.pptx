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73727d63-7b14-de66-9641-0706c4b33c8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Investment Advisor and Robo-Advisory Project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 and Participants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Key Findings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and Data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Revealed Risk and Time Preference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Elicited Utility Curves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Functions and What They Reveal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Recommendations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the Behavioral Portfolio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Personality Commentary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Robo-Advisory Portal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Established, and What Comes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E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70432"/>
          </a:xfrm>
          <a:prstGeom prst="rect">
            <a:avLst/>
          </a:prstGeom>
          <a:solidFill>
            <a:srgbClr val="0E223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88952" cy="68580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647395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8A8"/>
                </a:solidFill>
              </a:rPr>
              <a:t>MBA680 Group Project  |  Abhinav Raj, Chhitij Nigam, Raghav Patidar, Siddharth Jaiswal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8898A8"/>
                </a:solidFill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600200"/>
            <a:ext cx="68580" cy="2011680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5528" y="1572768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99D"/>
                </a:solidFill>
              </a:rPr>
              <a:t>BEHAVIORAL FINANCE (MBA680)  |  GROUP PROJECT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95528" y="1901952"/>
            <a:ext cx="8805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Personal Investment Advisor and Robo-Advisory Project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795528" y="3108960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4E0"/>
                </a:solidFill>
              </a:rPr>
              <a:t>Steps 1 to 6, estimated from the fielded peer-group survey responses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511296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99D"/>
                </a:solidFill>
              </a:rPr>
              <a:t>Portal: siddharthjaiswal05.github.io/mba_680_assignment_2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4320540"/>
            <a:ext cx="12188952" cy="502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4553712"/>
            <a:ext cx="11183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PRESENTED BY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5056632"/>
            <a:ext cx="2658618" cy="658368"/>
          </a:xfrm>
          <a:prstGeom prst="roundRect">
            <a:avLst>
              <a:gd name="adj" fmla="val 6944"/>
            </a:avLst>
          </a:prstGeom>
          <a:solidFill>
            <a:srgbClr val="17344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5056632"/>
            <a:ext cx="2658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Abhinav Raj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44418" y="5056632"/>
            <a:ext cx="2658618" cy="658368"/>
          </a:xfrm>
          <a:prstGeom prst="roundRect">
            <a:avLst>
              <a:gd name="adj" fmla="val 6944"/>
            </a:avLst>
          </a:prstGeom>
          <a:solidFill>
            <a:srgbClr val="17344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44418" y="5056632"/>
            <a:ext cx="2658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Chhitij Nigam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5916" y="5056632"/>
            <a:ext cx="2658618" cy="658368"/>
          </a:xfrm>
          <a:prstGeom prst="roundRect">
            <a:avLst>
              <a:gd name="adj" fmla="val 6944"/>
            </a:avLst>
          </a:prstGeom>
          <a:solidFill>
            <a:srgbClr val="17344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85916" y="5056632"/>
            <a:ext cx="2658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Raghav Patidar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27414" y="5056632"/>
            <a:ext cx="2658618" cy="658368"/>
          </a:xfrm>
          <a:prstGeom prst="roundRect">
            <a:avLst>
              <a:gd name="adj" fmla="val 6944"/>
            </a:avLst>
          </a:prstGeom>
          <a:solidFill>
            <a:srgbClr val="17344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27414" y="5056632"/>
            <a:ext cx="2658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Siddharth Jaiswal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1: SETUP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Project Overview and Participants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13332"/>
            <a:ext cx="2644902" cy="107899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3332"/>
            <a:ext cx="2644902" cy="502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1348"/>
            <a:ext cx="22791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Peer group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25396"/>
            <a:ext cx="22791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4 respondents, identified by roll number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8990" y="1513332"/>
            <a:ext cx="2644902" cy="107899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348990" y="1513332"/>
            <a:ext cx="2644902" cy="50292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31870" y="1641348"/>
            <a:ext cx="22791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Instrument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1870" y="2025396"/>
            <a:ext cx="22791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Class form: R1-R8, T1-T6, 30-item BFI-2 subset, U1-U6, V1-V6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95060" y="1513332"/>
            <a:ext cx="2644902" cy="107899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5060" y="1513332"/>
            <a:ext cx="2644902" cy="5029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77940" y="1641348"/>
            <a:ext cx="22791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Market inputs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77940" y="2025396"/>
            <a:ext cx="22791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60-stock maximum-Sharpe portfolio from Problem Statement 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41130" y="1513332"/>
            <a:ext cx="2644902" cy="107899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9041130" y="1513332"/>
            <a:ext cx="2644902" cy="50292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24010" y="1641348"/>
            <a:ext cx="22791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Methods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224010" y="2025396"/>
            <a:ext cx="22791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Expected utility, prospect theory, behavioral portfolio theory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73862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Participants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49524"/>
          <a:ext cx="11183112" cy="914400"/>
        </p:xfrm>
        <a:graphic>
          <a:graphicData uri="http://schemas.openxmlformats.org/drawingml/2006/table">
            <a:tbl>
              <a:tblPr/>
              <a:tblGrid>
                <a:gridCol w="1677467"/>
                <a:gridCol w="782818"/>
                <a:gridCol w="1901129"/>
                <a:gridCol w="1453805"/>
                <a:gridCol w="1118311"/>
                <a:gridCol w="2124791"/>
                <a:gridCol w="2124791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Age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Investable wealth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Experience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Horizon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Primary goal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Step 5 status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90,000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Moderate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5 yrs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Wealth creation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Complete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2 lakh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10 yrs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Wealth creation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Re-elicitation scheduled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10 lakh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Limited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6 yrs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Wealth creation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Complete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1 lakh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Limited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15 yrs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Specified goal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Re-elicitation scheduled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02920" y="598932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8"/>
                </a:solidFill>
              </a:rPr>
              <a:t>Every figure is computed directly from the submitted responses, so each result traces back to an answer a participant actually gave.</a:t>
            </a:r>
            <a:endParaRPr lang="en-US" sz="950" dirty="0"/>
          </a:p>
        </p:txBody>
      </p:sp>
      <p:sp>
        <p:nvSpPr>
          <p:cNvPr id="24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SUMMARY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Key Findings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13332"/>
            <a:ext cx="5472684" cy="221056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3332"/>
            <a:ext cx="59436" cy="221056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623060"/>
            <a:ext cx="5015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1. Risk aversion is best read from the utility curve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080260"/>
            <a:ext cx="5015484" cy="1497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</a:rPr>
              <a:t>Every R1-R8 row is expected-value neutral, so the ladder reveals a pattern rather than a degree. Two respondents switch part way, at R4 and R3, which is precisely what prospect theory predicts. We therefore estimate risk aversion from the utility curve, where it is sharply identified.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3348" y="1513332"/>
            <a:ext cx="5472684" cy="221056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213348" y="1513332"/>
            <a:ext cx="59436" cy="2210562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51092" y="1623060"/>
            <a:ext cx="5015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2. We extended the instrument to capture loss aversion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51092" y="2080260"/>
            <a:ext cx="5015484" cy="1497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</a:rPr>
              <a:t>Each V1-V6 row is a double-or-nothing gamble, so the certain amount cancels and the row reveals curvature. We added a mixed gain-and-loss gamble, which places the two limbs on a common scale and delivers lambda, the central parameter of prospect theory.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961638"/>
            <a:ext cx="5472684" cy="221056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3961638"/>
            <a:ext cx="59436" cy="221056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" y="4071366"/>
            <a:ext cx="5015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3. Three value rows measure one parameter, so we report its reliability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" y="4528566"/>
            <a:ext cx="5015484" cy="1497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</a:rPr>
              <a:t>All three imply the same curvature. Roll 251250039 answered 0.40, 0.45 and 0.70, implying 1.32, 1.15, 0.51. Reporting the spread of 0.81 alongside the mean of 1.00 turns a hidden error into a measured one.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3348" y="3961638"/>
            <a:ext cx="5472684" cy="221056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3348" y="3961638"/>
            <a:ext cx="59436" cy="2210562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51092" y="4071366"/>
            <a:ext cx="5015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4. The return assumption moves the answer more than the client does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51092" y="4528566"/>
            <a:ext cx="5015484" cy="1497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</a:rPr>
              <a:t>Both respondents with a complete utility curve want more than 100% equity under every input set, so the no-borrowing cap sets the allocation. The live question is how much of the 24.9% Problem Statement 1 return to carry forward.</a:t>
            </a:r>
            <a:endParaRPr lang="en-US" sz="1050" dirty="0"/>
          </a:p>
        </p:txBody>
      </p:sp>
      <p:sp>
        <p:nvSpPr>
          <p:cNvPr id="21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HOW EACH PARAMETER IS ESTIMATED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Method and Data Notes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13332"/>
            <a:ext cx="5367894" cy="1075563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3332"/>
            <a:ext cx="59436" cy="1075563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623060"/>
            <a:ext cx="491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Risk ladder, classified by pattern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080260"/>
            <a:ext cx="4910694" cy="362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Prefer certain X if u(w0+X) &gt; 0.5 u(w0+2X) + 0.5 u(w0). By Jensen's inequality this holds at every X or at none, so the switch point is read as a pattern.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2716911"/>
            <a:ext cx="5367894" cy="1075563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716911"/>
            <a:ext cx="59436" cy="1075563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0664" y="2826639"/>
            <a:ext cx="491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Utility curve, by probability equivalence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0664" y="3283839"/>
            <a:ext cx="4910694" cy="362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U(A) = 0 and U(B) = 1, so U(X) = p at indifference. Fitted with the lecture's log form and a CRRA form; the CRRA coefficient is the A used in Step 5.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3920490"/>
            <a:ext cx="5367894" cy="1075563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3920490"/>
            <a:ext cx="59436" cy="1075563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" y="4030218"/>
            <a:ext cx="491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Value function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40664" y="4487418"/>
            <a:ext cx="4910694" cy="362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At indifference v(X) = p v(2X), so alpha = -log2(p). The certain amount cancels, which is what makes each curvature cleanly identified.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5124069"/>
            <a:ext cx="5367894" cy="1075563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5124069"/>
            <a:ext cx="59436" cy="1075563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0664" y="5233797"/>
            <a:ext cx="4910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Step 5 portfolio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0664" y="5690997"/>
            <a:ext cx="4910694" cy="362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Maximise U = E(r) - 0.5 A sigma^2 along the capital allocation line: y* = [E(rP) - rf] / (A sigmaP^2), with borrowing capped at zero.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318138" y="1513332"/>
            <a:ext cx="53678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Data notes and follow-ups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18138" y="1824228"/>
          <a:ext cx="5367894" cy="914400"/>
        </p:xfrm>
        <a:graphic>
          <a:graphicData uri="http://schemas.openxmlformats.org/drawingml/2006/table">
            <a:tbl>
              <a:tblPr/>
              <a:tblGrid>
                <a:gridCol w="1073579"/>
                <a:gridCol w="2342354"/>
                <a:gridCol w="1951961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Utility amounts of Rs 50k to 85k sit below the stated lower endpoint of Rs 1 lakh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Re-elicit U1-U6 inside the A to B range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U1-U4 left blank and V1-V6 recorded in rupees rather than probabilities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Re-administer Sections 4 and 4.9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Reference amount W0 not stated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Value curve drawn in relative terms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Reference amount W0 not stated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Same treatment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Time answers mildly non-monotonic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B3A"/>
                          </a:solidFill>
                        </a:rPr>
                        <a:t>Midpoint reported as the estimate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318138" y="5852160"/>
            <a:ext cx="53678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B3A"/>
                </a:solidFill>
              </a:rPr>
              <a:t>Step 5 runs on the 2 respondents with a complete utility curve, and the remaining two are scheduled for a short re-elicitation.</a:t>
            </a:r>
            <a:endParaRPr lang="en-US" sz="950" dirty="0"/>
          </a:p>
        </p:txBody>
      </p:sp>
      <p:sp>
        <p:nvSpPr>
          <p:cNvPr id="24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STEPS 2 AND 3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Revealed Risk and Time Preference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54797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Risk ladder R1 to R8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4228"/>
          <a:ext cx="5479725" cy="914400"/>
        </p:xfrm>
        <a:graphic>
          <a:graphicData uri="http://schemas.openxmlformats.org/drawingml/2006/table">
            <a:tbl>
              <a:tblPr/>
              <a:tblGrid>
                <a:gridCol w="1133736"/>
                <a:gridCol w="2456428"/>
                <a:gridCol w="755824"/>
                <a:gridCol w="113373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Pattern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Fits EU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Risk averse at low stakes and risk seeking at high stakes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No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Switches at R4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Consistently risk averse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A curvature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Risk seeking at low stakes and risk averse at high stakes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No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Switches at R3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Consistently risk seeking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A curvature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662172"/>
            <a:ext cx="547972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Every rung is expected-value neutral, so the ladder maps a pattern rather than a degree.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The two switches are exactly what prospect theory anticipates.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Risk aversion is taken from the utility curve, where it is identified.</a:t>
            </a:r>
            <a:endParaRPr lang="en-US" sz="1000" dirty="0"/>
          </a:p>
        </p:txBody>
      </p:sp>
      <p:pic>
        <p:nvPicPr>
          <p:cNvPr id="7" name="Image 0" descr="/Users/siddharthjaiswal/Desktop/SEM_7/MBA680/Problem_statement_2/figures/c4_dis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5486" y="1513332"/>
            <a:ext cx="4561367" cy="23774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06307" y="4128516"/>
            <a:ext cx="5479725" cy="1371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5"/>
          <p:cNvSpPr/>
          <p:nvPr/>
        </p:nvSpPr>
        <p:spPr>
          <a:xfrm>
            <a:off x="6206307" y="4128516"/>
            <a:ext cx="59436" cy="1371600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44051" y="4238244"/>
            <a:ext cx="5022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Patience is the striking result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444051" y="4695444"/>
            <a:ext cx="502252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Every respondent discounts at a rate well above any available return, and roll 251250030 declines even 34.2% a year. That points to a genuine near-term cash need or a shorter real horizon, and it is worth a conversation before a long-horizon plan is set.</a:t>
            </a:r>
            <a:endParaRPr lang="en-US" sz="1000" dirty="0"/>
          </a:p>
        </p:txBody>
      </p:sp>
      <p:sp>
        <p:nvSpPr>
          <p:cNvPr id="13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4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Elicited Utility Curves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5591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B6E"/>
                </a:solidFill>
              </a:rPr>
              <a:t>Probability equivalence, exactly as the Week 2 to 3 lecture sets it out.</a:t>
            </a:r>
            <a:endParaRPr lang="en-US" sz="1100" dirty="0"/>
          </a:p>
        </p:txBody>
      </p:sp>
      <p:pic>
        <p:nvPicPr>
          <p:cNvPr id="5" name="Image 0" descr="/Users/siddharthjaiswal/Desktop/SEM_7/MBA680/Problem_statement_2/figures/c1_ut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913" y="1933956"/>
            <a:ext cx="5547570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713732"/>
            <a:ext cx="55915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The dots are the elicited points and the solid line is the fitted curve.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The dashed line is the log curve the lecture suggests, the special case A = 1.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Roll 251250039 fits 0.66 and roll 251250002 fits 1.18.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That coefficient is exactly the A in U = E(r) - 0.5 A sigma squared, so it feeds Step 5 directly.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94476" y="1513332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CRRA fit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4476" y="1824228"/>
          <a:ext cx="5591556" cy="914400"/>
        </p:xfrm>
        <a:graphic>
          <a:graphicData uri="http://schemas.openxmlformats.org/drawingml/2006/table">
            <a:tbl>
              <a:tblPr/>
              <a:tblGrid>
                <a:gridCol w="1001473"/>
                <a:gridCol w="1335297"/>
                <a:gridCol w="1001473"/>
                <a:gridCol w="834561"/>
                <a:gridCol w="1418753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Range A to B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Risk aversion A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Fit R2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10,000 to Rs 50,000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0.202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Concave, risk averse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Re-elicitation scheduled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Rs 10,000 to Rs 50,000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1.18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0.948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Concave, risk averse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Re-elicitation scheduled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4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Value Functions and What They Reveal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5591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B6E"/>
                </a:solidFill>
              </a:rPr>
              <a:t>Gain and loss curvature, estimated from the double-or-nothing rows.</a:t>
            </a:r>
            <a:endParaRPr lang="en-US" sz="1100" dirty="0"/>
          </a:p>
        </p:txBody>
      </p:sp>
      <p:pic>
        <p:nvPicPr>
          <p:cNvPr id="5" name="Image 0" descr="/Users/siddharthjaiswal/Desktop/SEM_7/MBA680/Problem_statement_2/figures/c2_va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9747" y="1933956"/>
            <a:ext cx="3937902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713732"/>
            <a:ext cx="55915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Every loss curvature came out above one, meaning sensitivity rises as losses grow.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Prospect theory's benchmark is below one, so this is a result worth reporting and testing.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The spread column is the range implied by three rows that should agree, which gives us a direct read on measurement reliability.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000" dirty="0">
                <a:solidFill>
                  <a:srgbClr val="4A5B6E"/>
                </a:solidFill>
              </a:rPr>
              <a:t>A second pass on the loss rows would settle whether the pattern is real.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94476" y="1513332"/>
            <a:ext cx="5591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Prospect theory parameters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4476" y="1824228"/>
          <a:ext cx="5591556" cy="914400"/>
        </p:xfrm>
        <a:graphic>
          <a:graphicData uri="http://schemas.openxmlformats.org/drawingml/2006/table">
            <a:tbl>
              <a:tblPr/>
              <a:tblGrid>
                <a:gridCol w="1001473"/>
                <a:gridCol w="1335297"/>
                <a:gridCol w="1001473"/>
                <a:gridCol w="834561"/>
                <a:gridCol w="1418753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Gain alpha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Loss beta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Spread, gains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Spread, losses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2.30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0.81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1.10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1.93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0.51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0.32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0.68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1.66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0.49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1.64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5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Portfolio Recommendations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5815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B6E"/>
                </a:solidFill>
              </a:rPr>
              <a:t>The risky asset is the Problem Statement 1 maximum-Sharpe portfolio, 18.0% volatility against a 6.5% risk-free rate.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25396"/>
          <a:ext cx="5815218" cy="914400"/>
        </p:xfrm>
        <a:graphic>
          <a:graphicData uri="http://schemas.openxmlformats.org/drawingml/2006/table">
            <a:tbl>
              <a:tblPr/>
              <a:tblGrid>
                <a:gridCol w="1503936"/>
                <a:gridCol w="902361"/>
                <a:gridCol w="802099"/>
                <a:gridCol w="260682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Input set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Return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Sharpe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What it assumes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PS1 as reported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24.9%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1.03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The PS1 averages repeat out of sample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Base case, advised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15.2%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0.49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A quarter of the screening premium survives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Stress case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12.0%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0.31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The market return alone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16452"/>
          <a:ext cx="5815218" cy="914400"/>
        </p:xfrm>
        <a:graphic>
          <a:graphicData uri="http://schemas.openxmlformats.org/drawingml/2006/table">
            <a:tbl>
              <a:tblPr/>
              <a:tblGrid>
                <a:gridCol w="1272079"/>
                <a:gridCol w="545177"/>
                <a:gridCol w="1181216"/>
                <a:gridCol w="1090353"/>
                <a:gridCol w="817765"/>
                <a:gridCol w="90862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Roll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Unconstrained y*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Advised equity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Return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Volatility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251250039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4.11x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100%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15.2%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18.0%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251250047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251250002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1.18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2.29x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100%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15.2%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18.0%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251250030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B3A"/>
                          </a:solidFill>
                        </a:rPr>
                        <a:t>Pending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Users/siddharthjaiswal/Desktop/SEM_7/MBA680/Problem_statement_2/figures/c7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5463" y="1744842"/>
            <a:ext cx="4920569" cy="22801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765463" y="4475988"/>
            <a:ext cx="4920569" cy="16916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4"/>
          <p:cNvSpPr/>
          <p:nvPr/>
        </p:nvSpPr>
        <p:spPr>
          <a:xfrm>
            <a:off x="6765463" y="4475988"/>
            <a:ext cx="59436" cy="1691640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7003207" y="4585716"/>
            <a:ext cx="44633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The cap, not the preference, sets the answer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7003207" y="5042916"/>
            <a:ext cx="4463369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Both respondents with a complete curve would borrow, so both are advised to hold 100% of their corpus in the Problem Statement 1 portfolio: Rs 90,000 and Rs 10 lakh. Volatility is carried across untouched because it is the reliable half of the estimate.</a:t>
            </a:r>
            <a:endParaRPr lang="en-US" sz="1000" dirty="0"/>
          </a:p>
        </p:txBody>
      </p:sp>
      <p:sp>
        <p:nvSpPr>
          <p:cNvPr id="13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5: BEHAVIORAL PORTFOLIO THEORY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Completing the Behavioral Portfolio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What the layered portfolio needs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31636" y="1513332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</a:rPr>
              <a:t>Four one-line questions, now live in the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425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842516"/>
            <a:ext cx="59436" cy="78638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0664" y="1952244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</a:rPr>
              <a:t>A floor, in rupees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2409444"/>
            <a:ext cx="49971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The amount that must survive to the horizon.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7569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756916"/>
            <a:ext cx="59436" cy="78638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0664" y="2866644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</a:rPr>
              <a:t>A tolerance for breaching 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" y="3323844"/>
            <a:ext cx="49971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Roy's safety-first threshold.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6713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3671316"/>
            <a:ext cx="59436" cy="78638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781044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</a:rPr>
              <a:t>An aspiration level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" y="4238244"/>
            <a:ext cx="49971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The target that defines success.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5857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4585716"/>
            <a:ext cx="59436" cy="78638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0664" y="4695444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B3A"/>
                </a:solidFill>
              </a:rPr>
              <a:t>Loss aversion, lambda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" y="5152644"/>
            <a:ext cx="49971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Drives the fear term in the SP/A objective.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31636" y="18425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3" name="Shape 21"/>
          <p:cNvSpPr/>
          <p:nvPr/>
        </p:nvSpPr>
        <p:spPr>
          <a:xfrm>
            <a:off x="6231636" y="1842516"/>
            <a:ext cx="566928" cy="78638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31636" y="1842516"/>
            <a:ext cx="566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E1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44868" y="1933956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</a:rPr>
              <a:t>A coin flip: lose Rs 10,000, or win G. How big must G be?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44868" y="2318004"/>
            <a:ext cx="45399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99D"/>
                </a:solidFill>
              </a:rPr>
              <a:t>Gives loss aversion lambda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31636" y="27569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6231636" y="2756916"/>
            <a:ext cx="566928" cy="786384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31636" y="2756916"/>
            <a:ext cx="566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E2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44868" y="2848356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</a:rPr>
              <a:t>A 10% chance of Rs 10,000: what certain amount feels as good? Same at 90%.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944868" y="3232404"/>
            <a:ext cx="45399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22B"/>
                </a:solidFill>
              </a:rPr>
              <a:t>Gives probability weighting, the hope term in SP/A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31636" y="36713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3" name="Shape 31"/>
          <p:cNvSpPr/>
          <p:nvPr/>
        </p:nvSpPr>
        <p:spPr>
          <a:xfrm>
            <a:off x="6231636" y="3671316"/>
            <a:ext cx="566928" cy="786384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231636" y="3671316"/>
            <a:ext cx="566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E3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4868" y="3762756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</a:rPr>
              <a:t>The smallest amount you must still have, and how often you could fall below it.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944868" y="4146804"/>
            <a:ext cx="45399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</a:rPr>
              <a:t>Gives the safety layer and its shortfall limit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31636" y="4585716"/>
            <a:ext cx="5454396" cy="78638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6231636" y="4585716"/>
            <a:ext cx="566928" cy="786384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31636" y="4585716"/>
            <a:ext cx="566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E4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44868" y="4677156"/>
            <a:ext cx="4539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B3A"/>
                </a:solidFill>
              </a:rPr>
              <a:t>The end amount you would call success, and what you would trade for a better shot.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944868" y="5061204"/>
            <a:ext cx="45399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D9"/>
                </a:solidFill>
              </a:rPr>
              <a:t>Gives the aspiration layer and its weight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5518404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B6E"/>
                </a:solidFill>
              </a:rPr>
              <a:t>Adding these four turns the safety and potential split from a judgement into a measurement, and they take about a minute to answer.</a:t>
            </a:r>
            <a:endParaRPr lang="en-US" sz="1000" dirty="0"/>
          </a:p>
        </p:txBody>
      </p:sp>
      <p:sp>
        <p:nvSpPr>
          <p:cNvPr id="44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STEP 6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Personality Commentary</a:t>
            </a:r>
            <a:endParaRPr lang="en-US" sz="2400" dirty="0"/>
          </a:p>
        </p:txBody>
      </p:sp>
      <p:pic>
        <p:nvPicPr>
          <p:cNvPr id="4" name="Image 0" descr="/Users/siddharthjaiswal/Desktop/SEM_7/MBA680/Problem_statement_2/figures/c5_person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276" y="1513332"/>
            <a:ext cx="4889519" cy="2743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475988"/>
            <a:ext cx="5144232" cy="11430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502920" y="4475988"/>
            <a:ext cx="59436" cy="1143000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0664" y="4585716"/>
            <a:ext cx="4687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Personality shapes the process, not the weight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042916"/>
            <a:ext cx="4687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</a:rPr>
              <a:t>Risk aversion is already measured directly, so personality is used where it actually predicts: whether a client stays with the plan.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82645" y="1513332"/>
            <a:ext cx="5703387" cy="1089279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5982645" y="1513332"/>
            <a:ext cx="59436" cy="1089279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20389" y="1623060"/>
            <a:ext cx="52461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251250039: build in the follow-through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220389" y="2080260"/>
            <a:ext cx="5246187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Conscientiousness of 2.33. Automate the contribution, rebalance on a threshold, and fix review dates in advance.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82645" y="2712339"/>
            <a:ext cx="5703387" cy="1089279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2645" y="2712339"/>
            <a:ext cx="59436" cy="1089279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20389" y="2822067"/>
            <a:ext cx="52461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251250047: methodical and calm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220389" y="3279267"/>
            <a:ext cx="5246187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Conscientiousness 3.83, the group's lowest negative emotionality at 1.67, and the certain amount on all eight rows. A glide path that steps equity up over time suits this well.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982645" y="3911346"/>
            <a:ext cx="5703387" cy="1089279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5982645" y="3911346"/>
            <a:ext cx="59436" cy="1089279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20389" y="4021074"/>
            <a:ext cx="52461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251250002: frame it in rupees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220389" y="4478274"/>
            <a:ext cx="5246187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Balanced across every domain. The switch at R3 suggests risk is judged in nominal amounts, so the downside case lands better as a rupee figure than as a percentage.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982645" y="5110353"/>
            <a:ext cx="5703387" cy="1089279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2" name="Shape 19"/>
          <p:cNvSpPr/>
          <p:nvPr/>
        </p:nvSpPr>
        <p:spPr>
          <a:xfrm>
            <a:off x="5982645" y="5110353"/>
            <a:ext cx="59436" cy="1089279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20389" y="5220081"/>
            <a:ext cx="52461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3A"/>
                </a:solidFill>
              </a:rPr>
              <a:t>251250030: start with a conversation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220389" y="5677281"/>
            <a:ext cx="5246187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Chose the gamble throughout and preferred cash now at every rate offered. A short interview will establish the real horizon before the plan is set.</a:t>
            </a:r>
            <a:endParaRPr lang="en-US" sz="950" dirty="0"/>
          </a:p>
        </p:txBody>
      </p:sp>
      <p:sp>
        <p:nvSpPr>
          <p:cNvPr id="26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DELIVERABLE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Robo-Advisory Portal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1333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B6E"/>
                </a:solidFill>
              </a:rPr>
              <a:t>A single static page with no server and no sign-in, so it opens on a phone in a classroom.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970532"/>
            <a:ext cx="3544824" cy="347014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970532"/>
            <a:ext cx="59436" cy="347014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20802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</a:rPr>
              <a:t>Fields the whole form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537460"/>
            <a:ext cx="3087624" cy="275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B6E"/>
                </a:solidFill>
              </a:rPr>
              <a:t>All six class sections plus the four extensions, written in plain English, with autosave and a one-click export of each respondent's answers.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2064" y="1970532"/>
            <a:ext cx="3544824" cy="347014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322064" y="1970532"/>
            <a:ext cx="59436" cy="3470148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59808" y="20802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</a:rPr>
              <a:t>Fits and plots live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59808" y="2537460"/>
            <a:ext cx="3087624" cy="275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B6E"/>
                </a:solidFill>
              </a:rPr>
              <a:t>Draws the respondent's own utility curve, value function and weighting function in the browser, using the same estimators that produced this deck.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41208" y="1970532"/>
            <a:ext cx="3544824" cy="347014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141208" y="1970532"/>
            <a:ext cx="59436" cy="3470148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20802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2B3A"/>
                </a:solidFill>
              </a:rPr>
              <a:t>Builds both portfolios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537460"/>
            <a:ext cx="3087624" cy="275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5B6E"/>
                </a:solidFill>
              </a:rPr>
              <a:t>The mean-variance allocation and the behavioral layers, against the real Problem Statement 1 frontier, with commentary generated from the respondent's own scores.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5650992"/>
            <a:ext cx="11183112" cy="548640"/>
          </a:xfrm>
          <a:prstGeom prst="rect">
            <a:avLst/>
          </a:prstGeom>
          <a:solidFill>
            <a:srgbClr val="0E223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5650992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siddharthjaiswal05.github.io/mba_680_assignment_2</a:t>
            </a:r>
            <a:endParaRPr lang="en-US" sz="1300" dirty="0"/>
          </a:p>
        </p:txBody>
      </p:sp>
      <p:sp>
        <p:nvSpPr>
          <p:cNvPr id="20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459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99D"/>
                </a:solidFill>
              </a:rPr>
              <a:t>SCOPE AND CONCLUSION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75488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We Established, and What Comes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13332"/>
            <a:ext cx="2104949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3332"/>
            <a:ext cx="2104949" cy="502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1348"/>
            <a:ext cx="17391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Sample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25396"/>
            <a:ext cx="173918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Four respondents, so conclusions are about the method rather than a population.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72461" y="1513332"/>
            <a:ext cx="2104949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2772461" y="1513332"/>
            <a:ext cx="2104949" cy="50292"/>
          </a:xfrm>
          <a:prstGeom prst="rect">
            <a:avLst/>
          </a:prstGeom>
          <a:solidFill>
            <a:srgbClr val="F09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55341" y="1641348"/>
            <a:ext cx="17391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Return input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955341" y="2025396"/>
            <a:ext cx="173918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The least certain input, which is why three scenarios are shown.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42002" y="1513332"/>
            <a:ext cx="2104949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42002" y="1513332"/>
            <a:ext cx="2104949" cy="5029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24882" y="1641348"/>
            <a:ext cx="17391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Horizon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224882" y="2025396"/>
            <a:ext cx="173918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Single-period models, before contributions, taxes and costs.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1542" y="1513332"/>
            <a:ext cx="2104949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1542" y="1513332"/>
            <a:ext cx="2104949" cy="50292"/>
          </a:xfrm>
          <a:prstGeom prst="rect">
            <a:avLst/>
          </a:prstGeom>
          <a:solidFill>
            <a:srgbClr val="7B61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4422" y="1641348"/>
            <a:ext cx="17391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Distribution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494422" y="2025396"/>
            <a:ext cx="173918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Normality assumed, so tail figures are the optimistic end.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581083" y="1513332"/>
            <a:ext cx="2104949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9581083" y="1513332"/>
            <a:ext cx="2104949" cy="50292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763963" y="1641348"/>
            <a:ext cx="17391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B3A"/>
                </a:solidFill>
              </a:rPr>
              <a:t>Universe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763963" y="2025396"/>
            <a:ext cx="173918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A5B6E"/>
                </a:solidFill>
              </a:rPr>
              <a:t>Current index membership, inherited from Problem Statement 1.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314700"/>
            <a:ext cx="11183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C2B3A"/>
                </a:solidFill>
              </a:rPr>
              <a:t>Risk aversion is measured from the utility curve, and the ladder is read as the pattern it genuinely reveals.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C2B3A"/>
                </a:solidFill>
              </a:rPr>
              <a:t>Four added questions complete the behavioral portfolio, and they are already live in the portal.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C2B3A"/>
                </a:solidFill>
              </a:rPr>
              <a:t>Both respondents with a complete curve are advised to hold the Problem Statement 1 portfolio in full.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C2B3A"/>
                </a:solidFill>
              </a:rPr>
              <a:t>The next step is a short re-elicitation for two respondents and a second pass on the loss rows.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577840"/>
            <a:ext cx="11183112" cy="566928"/>
          </a:xfrm>
          <a:prstGeom prst="rect">
            <a:avLst/>
          </a:prstGeom>
          <a:solidFill>
            <a:srgbClr val="0E223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557784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Measure what the data supports, and extend the instrument where it does not.</a:t>
            </a:r>
            <a:endParaRPr lang="en-US" sz="1350" dirty="0"/>
          </a:p>
        </p:txBody>
      </p:sp>
      <p:sp>
        <p:nvSpPr>
          <p:cNvPr id="28" name="Text 3"/>
          <p:cNvSpPr/>
          <p:nvPr>
            <p:ph idx="103" hasCustomPrompt="1"/>
          </p:nvPr>
        </p:nvSpPr>
        <p:spPr>
          <a:xfrm>
            <a:off x="10588752" y="6473952"/>
            <a:ext cx="109728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IIT Kanpur, MBA680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MBA680 Personal Investment Advisor and Robo-Advisory Project</dc:title>
  <dc:subject>PptxGenJS Presentation</dc:subject>
  <dc:creator>Abhinav Raj, Chhitij Nigam, Raghav Patidar, Siddharth Jaiswal</dc:creator>
  <cp:lastModifiedBy>Abhinav Raj, Chhitij Nigam, Raghav Patidar, Siddharth Jaiswal</cp:lastModifiedBy>
  <cp:revision>1</cp:revision>
  <dcterms:created xsi:type="dcterms:W3CDTF">2026-10-05T18:53:06Z</dcterms:created>
  <dcterms:modified xsi:type="dcterms:W3CDTF">2026-10-05T18:53:06Z</dcterms:modified>
</cp:coreProperties>
</file>