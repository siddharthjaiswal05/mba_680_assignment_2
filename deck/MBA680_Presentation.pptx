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ef7a0b5d-5f41-33ac-8d95-73a8c6547e3e}">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Investment Advisor and Robo-Advisory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Steps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Peer Group and Build the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the Attitude to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the Attitude to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the Utility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the Value Function Over Gains and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the Personality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Mean-Variance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Behavioral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Numbers Into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Step Was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Robo-Advisory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Established,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23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70432"/>
          </a:xfrm>
          <a:prstGeom prst="rect">
            <a:avLst/>
          </a:prstGeom>
          <a:solidFill>
            <a:srgbClr val="0E2235"/>
          </a:solidFill>
          <a:ln/>
        </p:spPr>
      </p:sp>
      <p:sp>
        <p:nvSpPr>
          <p:cNvPr id="3" name="Shape 1"/>
          <p:cNvSpPr/>
          <p:nvPr/>
        </p:nvSpPr>
        <p:spPr>
          <a:xfrm>
            <a:off x="0" y="1170432"/>
            <a:ext cx="12188952" cy="68580"/>
          </a:xfrm>
          <a:prstGeom prst="rect">
            <a:avLst/>
          </a:prstGeom>
          <a:solidFill>
            <a:srgbClr val="00A99D"/>
          </a:solidFill>
          <a:ln/>
        </p:spPr>
      </p:sp>
      <p:sp>
        <p:nvSpPr>
          <p:cNvPr id="4" name="Text 2"/>
          <p:cNvSpPr txBox="1"/>
          <p:nvPr/>
        </p:nvSpPr>
        <p:spPr>
          <a:xfrm>
            <a:off x="502920" y="6473952"/>
            <a:ext cx="7772400" cy="237744"/>
          </a:xfrm>
          <a:prstGeom prst="rect">
            <a:avLst/>
          </a:prstGeom>
          <a:noFill/>
          <a:ln/>
        </p:spPr>
        <p:txBody>
          <a:bodyPr wrap="square" lIns="0" tIns="0" rIns="0" bIns="0" rtlCol="0" anchor="ctr"/>
          <a:lstStyle/>
          <a:p>
            <a:pPr indent="0" marL="0">
              <a:buNone/>
            </a:pPr>
            <a:r>
              <a:rPr lang="en-US" sz="800" dirty="0">
                <a:solidFill>
                  <a:srgbClr val="8898A8"/>
                </a:solidFill>
              </a:rPr>
              <a:t>MBA680 Group Project  |  Abhinav Raj, Chhitij Nigam, Raghav Patidar, Siddharth Jaiswal</a:t>
            </a:r>
            <a:endParaRPr lang="en-US" sz="800" dirty="0"/>
          </a:p>
        </p:txBody>
      </p:sp>
      <p:sp>
        <p:nvSpPr>
          <p:cNvPr id="5" name="Text 3"/>
          <p:cNvSpPr/>
          <p:nvPr>
            <p:ph idx="103" hasCustomPrompt="1"/>
          </p:nvPr>
        </p:nvSpPr>
        <p:spPr>
          <a:xfrm>
            <a:off x="10588752" y="6473952"/>
            <a:ext cx="1097280" cy="237744"/>
          </a:xfrm>
          <a:prstGeom prst="rect">
            <a:avLst/>
          </a:prstGeom>
          <a:noFill/>
          <a:ln/>
        </p:spPr>
        <p:txBody>
          <a:bodyPr wrap="square" rtlCol="0"/>
          <a:lstStyle>
            <a:lvl1pPr algn="r" indent="0" marL="0">
              <a:buNone/>
              <a:defRPr lang="en-US" sz="800" dirty="0">
                <a:solidFill>
                  <a:srgbClr val="8898A8"/>
                </a:solidFill>
              </a:defRPr>
            </a:lvl1pPr>
          </a:lstStyle>
          <a:p>
            <a:pPr algn="r" indent="0" marL="0">
              <a:buNone/>
            </a:pP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1600200"/>
            <a:ext cx="68580" cy="2011680"/>
          </a:xfrm>
          <a:prstGeom prst="rect">
            <a:avLst/>
          </a:prstGeom>
          <a:solidFill>
            <a:srgbClr val="F0922B"/>
          </a:solidFill>
          <a:ln/>
        </p:spPr>
      </p:sp>
      <p:sp>
        <p:nvSpPr>
          <p:cNvPr id="3" name="Text 1"/>
          <p:cNvSpPr txBox="1"/>
          <p:nvPr/>
        </p:nvSpPr>
        <p:spPr>
          <a:xfrm>
            <a:off x="795528" y="1572768"/>
            <a:ext cx="10268712" cy="274320"/>
          </a:xfrm>
          <a:prstGeom prst="rect">
            <a:avLst/>
          </a:prstGeom>
          <a:noFill/>
          <a:ln/>
        </p:spPr>
        <p:txBody>
          <a:bodyPr wrap="square" lIns="0" tIns="0" rIns="0" bIns="0" rtlCol="0" anchor="ctr"/>
          <a:lstStyle/>
          <a:p>
            <a:pPr indent="0" marL="0">
              <a:buNone/>
            </a:pPr>
            <a:r>
              <a:rPr lang="en-US" sz="1100" b="1" dirty="0">
                <a:solidFill>
                  <a:srgbClr val="00A99D"/>
                </a:solidFill>
              </a:rPr>
              <a:t>BEHAVIORAL FINANCE (MBA680)  |  GROUP PROJECT</a:t>
            </a:r>
            <a:endParaRPr lang="en-US" sz="1100" dirty="0"/>
          </a:p>
        </p:txBody>
      </p:sp>
      <p:sp>
        <p:nvSpPr>
          <p:cNvPr id="4" name="Text 2"/>
          <p:cNvSpPr txBox="1"/>
          <p:nvPr/>
        </p:nvSpPr>
        <p:spPr>
          <a:xfrm>
            <a:off x="795528" y="1901952"/>
            <a:ext cx="8805672" cy="1188720"/>
          </a:xfrm>
          <a:prstGeom prst="rect">
            <a:avLst/>
          </a:prstGeom>
          <a:noFill/>
          <a:ln/>
        </p:spPr>
        <p:txBody>
          <a:bodyPr wrap="square" lIns="0" tIns="0" rIns="0" bIns="0" rtlCol="0" anchor="t"/>
          <a:lstStyle/>
          <a:p>
            <a:pPr indent="0" marL="0">
              <a:buNone/>
            </a:pPr>
            <a:r>
              <a:rPr lang="en-US" sz="3100" b="1" dirty="0">
                <a:solidFill>
                  <a:srgbClr val="FFFFFF"/>
                </a:solidFill>
              </a:rPr>
              <a:t>Personal Investment Advisor and Robo-Advisory Project</a:t>
            </a:r>
            <a:endParaRPr lang="en-US" sz="3100" dirty="0"/>
          </a:p>
        </p:txBody>
      </p:sp>
      <p:sp>
        <p:nvSpPr>
          <p:cNvPr id="5" name="Text 3"/>
          <p:cNvSpPr txBox="1"/>
          <p:nvPr/>
        </p:nvSpPr>
        <p:spPr>
          <a:xfrm>
            <a:off x="795528" y="3108960"/>
            <a:ext cx="9902952" cy="329184"/>
          </a:xfrm>
          <a:prstGeom prst="rect">
            <a:avLst/>
          </a:prstGeom>
          <a:noFill/>
          <a:ln/>
        </p:spPr>
        <p:txBody>
          <a:bodyPr wrap="square" lIns="0" tIns="0" rIns="0" bIns="0" rtlCol="0" anchor="ctr"/>
          <a:lstStyle/>
          <a:p>
            <a:pPr indent="0" marL="0">
              <a:buNone/>
            </a:pPr>
            <a:r>
              <a:rPr lang="en-US" sz="1350" dirty="0">
                <a:solidFill>
                  <a:srgbClr val="C7D4E0"/>
                </a:solidFill>
              </a:rPr>
              <a:t>A step by step walk-through of Steps 1 to 6, with the survey questions used at each step</a:t>
            </a:r>
            <a:endParaRPr lang="en-US" sz="1350" dirty="0"/>
          </a:p>
        </p:txBody>
      </p:sp>
      <p:sp>
        <p:nvSpPr>
          <p:cNvPr id="6" name="Text 4"/>
          <p:cNvSpPr txBox="1"/>
          <p:nvPr/>
        </p:nvSpPr>
        <p:spPr>
          <a:xfrm>
            <a:off x="795528" y="3511296"/>
            <a:ext cx="9902952" cy="274320"/>
          </a:xfrm>
          <a:prstGeom prst="rect">
            <a:avLst/>
          </a:prstGeom>
          <a:noFill/>
          <a:ln/>
        </p:spPr>
        <p:txBody>
          <a:bodyPr wrap="square" lIns="0" tIns="0" rIns="0" bIns="0" rtlCol="0" anchor="ctr"/>
          <a:lstStyle/>
          <a:p>
            <a:pPr indent="0" marL="0">
              <a:buNone/>
            </a:pPr>
            <a:r>
              <a:rPr lang="en-US" sz="1100" dirty="0">
                <a:solidFill>
                  <a:srgbClr val="00A99D"/>
                </a:solidFill>
              </a:rPr>
              <a:t>Portal: siddharthjaiswal05.github.io/mba_680_assignment_2</a:t>
            </a:r>
            <a:endParaRPr lang="en-US" sz="1100" dirty="0"/>
          </a:p>
        </p:txBody>
      </p:sp>
      <p:sp>
        <p:nvSpPr>
          <p:cNvPr id="7" name="Shape 5"/>
          <p:cNvSpPr/>
          <p:nvPr/>
        </p:nvSpPr>
        <p:spPr>
          <a:xfrm>
            <a:off x="0" y="4320540"/>
            <a:ext cx="12188952" cy="50292"/>
          </a:xfrm>
          <a:prstGeom prst="rect">
            <a:avLst/>
          </a:prstGeom>
          <a:solidFill>
            <a:srgbClr val="00A99D"/>
          </a:solidFill>
          <a:ln/>
        </p:spPr>
      </p:sp>
      <p:sp>
        <p:nvSpPr>
          <p:cNvPr id="8" name="Text 6"/>
          <p:cNvSpPr txBox="1"/>
          <p:nvPr/>
        </p:nvSpPr>
        <p:spPr>
          <a:xfrm>
            <a:off x="502920" y="4553712"/>
            <a:ext cx="11183112" cy="256032"/>
          </a:xfrm>
          <a:prstGeom prst="rect">
            <a:avLst/>
          </a:prstGeom>
          <a:noFill/>
          <a:ln/>
        </p:spPr>
        <p:txBody>
          <a:bodyPr wrap="square" lIns="0" tIns="0" rIns="0" bIns="0" rtlCol="0" anchor="ctr"/>
          <a:lstStyle/>
          <a:p>
            <a:pPr indent="0" marL="0">
              <a:buNone/>
            </a:pPr>
            <a:r>
              <a:rPr lang="en-US" sz="950" b="1" dirty="0">
                <a:solidFill>
                  <a:srgbClr val="00A99D"/>
                </a:solidFill>
              </a:rPr>
              <a:t>PRESENTED BY</a:t>
            </a:r>
            <a:endParaRPr lang="en-US" sz="950" dirty="0"/>
          </a:p>
        </p:txBody>
      </p:sp>
      <p:sp>
        <p:nvSpPr>
          <p:cNvPr id="9" name="Shape 7"/>
          <p:cNvSpPr/>
          <p:nvPr/>
        </p:nvSpPr>
        <p:spPr>
          <a:xfrm>
            <a:off x="502920" y="5056632"/>
            <a:ext cx="2658618" cy="658368"/>
          </a:xfrm>
          <a:prstGeom prst="roundRect">
            <a:avLst>
              <a:gd name="adj" fmla="val 6944"/>
            </a:avLst>
          </a:prstGeom>
          <a:solidFill>
            <a:srgbClr val="17344E"/>
          </a:solidFill>
          <a:ln/>
        </p:spPr>
      </p:sp>
      <p:sp>
        <p:nvSpPr>
          <p:cNvPr id="10" name="Text 8"/>
          <p:cNvSpPr txBox="1"/>
          <p:nvPr/>
        </p:nvSpPr>
        <p:spPr>
          <a:xfrm>
            <a:off x="502920" y="5056632"/>
            <a:ext cx="2658618" cy="658368"/>
          </a:xfrm>
          <a:prstGeom prst="rect">
            <a:avLst/>
          </a:prstGeom>
          <a:noFill/>
          <a:ln/>
        </p:spPr>
        <p:txBody>
          <a:bodyPr wrap="square" lIns="0" tIns="0" rIns="0" bIns="0" rtlCol="0" anchor="ctr"/>
          <a:lstStyle/>
          <a:p>
            <a:pPr algn="ctr" indent="0" marL="0">
              <a:buNone/>
            </a:pPr>
            <a:r>
              <a:rPr lang="en-US" sz="1300" b="1" dirty="0">
                <a:solidFill>
                  <a:srgbClr val="FFFFFF"/>
                </a:solidFill>
              </a:rPr>
              <a:t>Abhinav Raj</a:t>
            </a:r>
            <a:endParaRPr lang="en-US" sz="1300" dirty="0"/>
          </a:p>
        </p:txBody>
      </p:sp>
      <p:sp>
        <p:nvSpPr>
          <p:cNvPr id="11" name="Shape 9"/>
          <p:cNvSpPr/>
          <p:nvPr/>
        </p:nvSpPr>
        <p:spPr>
          <a:xfrm>
            <a:off x="3344418" y="5056632"/>
            <a:ext cx="2658618" cy="658368"/>
          </a:xfrm>
          <a:prstGeom prst="roundRect">
            <a:avLst>
              <a:gd name="adj" fmla="val 6944"/>
            </a:avLst>
          </a:prstGeom>
          <a:solidFill>
            <a:srgbClr val="17344E"/>
          </a:solidFill>
          <a:ln/>
        </p:spPr>
      </p:sp>
      <p:sp>
        <p:nvSpPr>
          <p:cNvPr id="12" name="Text 10"/>
          <p:cNvSpPr txBox="1"/>
          <p:nvPr/>
        </p:nvSpPr>
        <p:spPr>
          <a:xfrm>
            <a:off x="3344418" y="5056632"/>
            <a:ext cx="2658618" cy="658368"/>
          </a:xfrm>
          <a:prstGeom prst="rect">
            <a:avLst/>
          </a:prstGeom>
          <a:noFill/>
          <a:ln/>
        </p:spPr>
        <p:txBody>
          <a:bodyPr wrap="square" lIns="0" tIns="0" rIns="0" bIns="0" rtlCol="0" anchor="ctr"/>
          <a:lstStyle/>
          <a:p>
            <a:pPr algn="ctr" indent="0" marL="0">
              <a:buNone/>
            </a:pPr>
            <a:r>
              <a:rPr lang="en-US" sz="1300" b="1" dirty="0">
                <a:solidFill>
                  <a:srgbClr val="FFFFFF"/>
                </a:solidFill>
              </a:rPr>
              <a:t>Chhitij Nigam</a:t>
            </a:r>
            <a:endParaRPr lang="en-US" sz="1300" dirty="0"/>
          </a:p>
        </p:txBody>
      </p:sp>
      <p:sp>
        <p:nvSpPr>
          <p:cNvPr id="13" name="Shape 11"/>
          <p:cNvSpPr/>
          <p:nvPr/>
        </p:nvSpPr>
        <p:spPr>
          <a:xfrm>
            <a:off x="6185916" y="5056632"/>
            <a:ext cx="2658618" cy="658368"/>
          </a:xfrm>
          <a:prstGeom prst="roundRect">
            <a:avLst>
              <a:gd name="adj" fmla="val 6944"/>
            </a:avLst>
          </a:prstGeom>
          <a:solidFill>
            <a:srgbClr val="17344E"/>
          </a:solidFill>
          <a:ln/>
        </p:spPr>
      </p:sp>
      <p:sp>
        <p:nvSpPr>
          <p:cNvPr id="14" name="Text 12"/>
          <p:cNvSpPr txBox="1"/>
          <p:nvPr/>
        </p:nvSpPr>
        <p:spPr>
          <a:xfrm>
            <a:off x="6185916" y="5056632"/>
            <a:ext cx="2658618" cy="658368"/>
          </a:xfrm>
          <a:prstGeom prst="rect">
            <a:avLst/>
          </a:prstGeom>
          <a:noFill/>
          <a:ln/>
        </p:spPr>
        <p:txBody>
          <a:bodyPr wrap="square" lIns="0" tIns="0" rIns="0" bIns="0" rtlCol="0" anchor="ctr"/>
          <a:lstStyle/>
          <a:p>
            <a:pPr algn="ctr" indent="0" marL="0">
              <a:buNone/>
            </a:pPr>
            <a:r>
              <a:rPr lang="en-US" sz="1300" b="1" dirty="0">
                <a:solidFill>
                  <a:srgbClr val="FFFFFF"/>
                </a:solidFill>
              </a:rPr>
              <a:t>Raghav Patidar</a:t>
            </a:r>
            <a:endParaRPr lang="en-US" sz="1300" dirty="0"/>
          </a:p>
        </p:txBody>
      </p:sp>
      <p:sp>
        <p:nvSpPr>
          <p:cNvPr id="15" name="Shape 13"/>
          <p:cNvSpPr/>
          <p:nvPr/>
        </p:nvSpPr>
        <p:spPr>
          <a:xfrm>
            <a:off x="9027414" y="5056632"/>
            <a:ext cx="2658618" cy="658368"/>
          </a:xfrm>
          <a:prstGeom prst="roundRect">
            <a:avLst>
              <a:gd name="adj" fmla="val 6944"/>
            </a:avLst>
          </a:prstGeom>
          <a:solidFill>
            <a:srgbClr val="17344E"/>
          </a:solidFill>
          <a:ln/>
        </p:spPr>
      </p:sp>
      <p:sp>
        <p:nvSpPr>
          <p:cNvPr id="16" name="Text 14"/>
          <p:cNvSpPr txBox="1"/>
          <p:nvPr/>
        </p:nvSpPr>
        <p:spPr>
          <a:xfrm>
            <a:off x="9027414" y="5056632"/>
            <a:ext cx="2658618" cy="658368"/>
          </a:xfrm>
          <a:prstGeom prst="rect">
            <a:avLst/>
          </a:prstGeom>
          <a:noFill/>
          <a:ln/>
        </p:spPr>
        <p:txBody>
          <a:bodyPr wrap="square" lIns="0" tIns="0" rIns="0" bIns="0" rtlCol="0" anchor="ctr"/>
          <a:lstStyle/>
          <a:p>
            <a:pPr algn="ctr" indent="0" marL="0">
              <a:buNone/>
            </a:pPr>
            <a:r>
              <a:rPr lang="en-US" sz="1300" b="1" dirty="0">
                <a:solidFill>
                  <a:srgbClr val="FFFFFF"/>
                </a:solidFill>
              </a:rPr>
              <a:t>Siddharth Jaiswal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THE WORK, END TO END</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The Six Steps at a Glance</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The map. Each of the next nine slides takes one step and shows the questions, the method and the result together.</a:t>
            </a:r>
            <a:endParaRPr lang="en-US" sz="1100" dirty="0"/>
          </a:p>
        </p:txBody>
      </p:sp>
      <p:sp>
        <p:nvSpPr>
          <p:cNvPr id="5" name="Text 3"/>
          <p:cNvSpPr txBox="1"/>
          <p:nvPr/>
        </p:nvSpPr>
        <p:spPr>
          <a:xfrm>
            <a:off x="502920" y="1824228"/>
            <a:ext cx="11183112" cy="237744"/>
          </a:xfrm>
          <a:prstGeom prst="rect">
            <a:avLst/>
          </a:prstGeom>
          <a:noFill/>
          <a:ln/>
        </p:spPr>
        <p:txBody>
          <a:bodyPr wrap="square" lIns="0" tIns="0" rIns="0" bIns="0" rtlCol="0" anchor="ctr"/>
          <a:lstStyle/>
          <a:p>
            <a:pPr indent="0" marL="0">
              <a:buNone/>
            </a:pPr>
            <a:r>
              <a:rPr lang="en-US" sz="1250" b="1" dirty="0">
                <a:solidFill>
                  <a:srgbClr val="1C2B3A"/>
                </a:solidFill>
              </a:rPr>
              <a:t>Every step, the part of the form it used, and what it produced</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11183112" cy="914400"/>
        </p:xfrm>
        <a:graphic>
          <a:graphicData uri="http://schemas.openxmlformats.org/drawingml/2006/table">
            <a:tbl>
              <a:tblPr/>
              <a:tblGrid>
                <a:gridCol w="414189"/>
                <a:gridCol w="2381589"/>
                <a:gridCol w="2174494"/>
                <a:gridCol w="3520609"/>
                <a:gridCol w="2692231"/>
              </a:tblGrid>
              <a:tr h="365760">
                <a:tc>
                  <a:txBody>
                    <a:bodyPr/>
                    <a:lstStyle/>
                    <a:p>
                      <a:pPr algn="ctr" indent="0" marL="0">
                        <a:buNone/>
                      </a:pPr>
                      <a:r>
                        <a:rPr lang="en-US" sz="900" b="1" dirty="0">
                          <a:solidFill>
                            <a:srgbClr val="FFFFFF"/>
                          </a:solidFill>
                        </a:rPr>
                        <a:t>Step</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What it required</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Part of the form used</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How it was done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What came out</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475488">
                <a:tc>
                  <a:txBody>
                    <a:bodyPr/>
                    <a:lstStyle/>
                    <a:p>
                      <a:pPr algn="ctr" indent="0" marL="0">
                        <a:buNone/>
                      </a:pPr>
                      <a:r>
                        <a:rPr lang="en-US" sz="900" dirty="0">
                          <a:solidFill>
                            <a:srgbClr val="1C2B3A"/>
                          </a:solidFill>
                        </a:rPr>
                        <a:t>1</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Pick a peer group and build the survey</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Section 1, About you</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Eight profile questions, roll number instead of a name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Four anonymous investor profiles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75488">
                <a:tc>
                  <a:txBody>
                    <a:bodyPr/>
                    <a:lstStyle/>
                    <a:p>
                      <a:pPr algn="ctr" indent="0" marL="0">
                        <a:buNone/>
                      </a:pPr>
                      <a:r>
                        <a:rPr lang="en-US" sz="900" dirty="0">
                          <a:solidFill>
                            <a:srgbClr val="1C2B3A"/>
                          </a:solidFill>
                        </a:rPr>
                        <a:t>2</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Measure the attitude to risk</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Section 2, eight ladder rows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A sure amount against a double or nothing coin flip</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A risk pattern for each person</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75488">
                <a:tc>
                  <a:txBody>
                    <a:bodyPr/>
                    <a:lstStyle/>
                    <a:p>
                      <a:pPr algn="ctr" indent="0" marL="0">
                        <a:buNone/>
                      </a:pPr>
                      <a:r>
                        <a:rPr lang="en-US" sz="900" dirty="0">
                          <a:solidFill>
                            <a:srgbClr val="1C2B3A"/>
                          </a:solidFill>
                        </a:rPr>
                        <a:t>3</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Measure the attitude to waiting</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Section 3, six now or later rows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Rs 10,000 today against a larger amount later</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A yearly discount rate for each person</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75488">
                <a:tc>
                  <a:txBody>
                    <a:bodyPr/>
                    <a:lstStyle/>
                    <a:p>
                      <a:pPr algn="ctr" indent="0" marL="0">
                        <a:buNone/>
                      </a:pPr>
                      <a:r>
                        <a:rPr lang="en-US" sz="900" dirty="0">
                          <a:solidFill>
                            <a:srgbClr val="1C2B3A"/>
                          </a:solidFill>
                        </a:rPr>
                        <a:t>4</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Fit the curves and score the personality</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Sections 4, 5 and 6</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Probability equivalence, then a least squares fit; BFI-2 scored by facet</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Risk aversion A, curvatures alpha and beta, five domain scores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75488">
                <a:tc>
                  <a:txBody>
                    <a:bodyPr/>
                    <a:lstStyle/>
                    <a:p>
                      <a:pPr algn="ctr" indent="0" marL="0">
                        <a:buNone/>
                      </a:pPr>
                      <a:r>
                        <a:rPr lang="en-US" sz="900" dirty="0">
                          <a:solidFill>
                            <a:srgbClr val="1C2B3A"/>
                          </a:solidFill>
                        </a:rPr>
                        <a:t>5</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Build the portfolio</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Nothing new, it reuses Steps 2 to 4</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Maximise E(r) minus half A sigma squared along the capital allocation line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An advised equity weight for each person</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75488">
                <a:tc>
                  <a:txBody>
                    <a:bodyPr/>
                    <a:lstStyle/>
                    <a:p>
                      <a:pPr algn="ctr" indent="0" marL="0">
                        <a:buNone/>
                      </a:pPr>
                      <a:r>
                        <a:rPr lang="en-US" sz="900" dirty="0">
                          <a:solidFill>
                            <a:srgbClr val="1C2B3A"/>
                          </a:solidFill>
                        </a:rPr>
                        <a:t>6</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Write the advice and ship the tool</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Section 4 scores plus Section 7</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Rules that fire on the respondent's own answers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Personal commentary and a live portal</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02920" y="5463540"/>
            <a:ext cx="11183112" cy="365760"/>
          </a:xfrm>
          <a:prstGeom prst="rect">
            <a:avLst/>
          </a:prstGeom>
          <a:noFill/>
          <a:ln/>
        </p:spPr>
        <p:txBody>
          <a:bodyPr wrap="square" lIns="0" tIns="0" rIns="0" bIns="0" rtlCol="0" anchor="ctr"/>
          <a:lstStyle/>
          <a:p>
            <a:pPr indent="0" marL="0">
              <a:buNone/>
            </a:pPr>
            <a:r>
              <a:rPr lang="en-US" sz="950" i="1" dirty="0">
                <a:solidFill>
                  <a:srgbClr val="8898A8"/>
                </a:solidFill>
              </a:rPr>
              <a:t>The seven Section 7 questions are our own addition to the class form. They are introduced on the Step 5 behavioral slide, where they are used.</a:t>
            </a:r>
            <a:endParaRPr lang="en-US" sz="950" dirty="0"/>
          </a:p>
        </p:txBody>
      </p:sp>
      <p:sp>
        <p:nvSpPr>
          <p:cNvPr id="9"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1 OF 6</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Choose the Peer Group and Build the Survey</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field an investor survey on a peer group and record it in a form that an estimator can read.</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The eight questions in Section 1, as they appeared</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3876812"/>
                <a:gridCol w="1938406"/>
              </a:tblGrid>
              <a:tr h="365760">
                <a:tc>
                  <a:txBody>
                    <a:bodyPr/>
                    <a:lstStyle/>
                    <a:p>
                      <a:pPr algn="ctr" indent="0" marL="0">
                        <a:buNone/>
                      </a:pPr>
                      <a:r>
                        <a:rPr lang="en-US" sz="950" b="1" dirty="0">
                          <a:solidFill>
                            <a:srgbClr val="FFFFFF"/>
                          </a:solidFill>
                        </a:rPr>
                        <a:t>Question on the form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Answer type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29184">
                <a:tc>
                  <a:txBody>
                    <a:bodyPr/>
                    <a:lstStyle/>
                    <a:p>
                      <a:pPr algn="ctr" indent="0" marL="0">
                        <a:buNone/>
                      </a:pPr>
                      <a:r>
                        <a:rPr lang="en-US" sz="950" dirty="0">
                          <a:solidFill>
                            <a:srgbClr val="1C2B3A"/>
                          </a:solidFill>
                        </a:rPr>
                        <a:t>Roll number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Text, used instead of a name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29184">
                <a:tc>
                  <a:txBody>
                    <a:bodyPr/>
                    <a:lstStyle/>
                    <a:p>
                      <a:pPr algn="ctr" indent="0" marL="0">
                        <a:buNone/>
                      </a:pPr>
                      <a:r>
                        <a:rPr lang="en-US" sz="950" dirty="0">
                          <a:solidFill>
                            <a:srgbClr val="1C2B3A"/>
                          </a:solidFill>
                        </a:rPr>
                        <a:t>Age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Years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1C2B3A"/>
                          </a:solidFill>
                        </a:rPr>
                        <a:t>Money coming in each month</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One of five bands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29184">
                <a:tc>
                  <a:txBody>
                    <a:bodyPr/>
                    <a:lstStyle/>
                    <a:p>
                      <a:pPr algn="ctr" indent="0" marL="0">
                        <a:buNone/>
                      </a:pPr>
                      <a:r>
                        <a:rPr lang="en-US" sz="950" dirty="0">
                          <a:solidFill>
                            <a:srgbClr val="1C2B3A"/>
                          </a:solidFill>
                        </a:rPr>
                        <a:t>Money you can invest (Rs)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Rupees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1C2B3A"/>
                          </a:solidFill>
                        </a:rPr>
                        <a:t>How much investing have you done?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None to Substantial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29184">
                <a:tc>
                  <a:txBody>
                    <a:bodyPr/>
                    <a:lstStyle/>
                    <a:p>
                      <a:pPr algn="ctr" indent="0" marL="0">
                        <a:buNone/>
                      </a:pPr>
                      <a:r>
                        <a:rPr lang="en-US" sz="950" dirty="0">
                          <a:solidFill>
                            <a:srgbClr val="1C2B3A"/>
                          </a:solidFill>
                        </a:rPr>
                        <a:t>How many years will you keep it invested?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Years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1C2B3A"/>
                          </a:solidFill>
                        </a:rPr>
                        <a:t>What is the money mainly for?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One of four goals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29184">
                <a:tc>
                  <a:txBody>
                    <a:bodyPr/>
                    <a:lstStyle/>
                    <a:p>
                      <a:pPr algn="ctr" indent="0" marL="0">
                        <a:buNone/>
                      </a:pPr>
                      <a:r>
                        <a:rPr lang="en-US" sz="950" dirty="0">
                          <a:solidFill>
                            <a:srgbClr val="1C2B3A"/>
                          </a:solidFill>
                        </a:rPr>
                        <a:t>Anything that limits you?</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Optional free text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244084"/>
            <a:ext cx="5815218" cy="960120"/>
          </a:xfrm>
          <a:prstGeom prst="rect">
            <a:avLst/>
          </a:prstGeom>
          <a:solidFill>
            <a:srgbClr val="F2F5F9"/>
          </a:solidFill>
          <a:ln/>
        </p:spPr>
      </p:sp>
      <p:sp>
        <p:nvSpPr>
          <p:cNvPr id="8" name="Shape 5"/>
          <p:cNvSpPr/>
          <p:nvPr/>
        </p:nvSpPr>
        <p:spPr>
          <a:xfrm>
            <a:off x="502920" y="5244084"/>
            <a:ext cx="59436" cy="960120"/>
          </a:xfrm>
          <a:prstGeom prst="rect">
            <a:avLst/>
          </a:prstGeom>
          <a:solidFill>
            <a:srgbClr val="00A99D"/>
          </a:solidFill>
          <a:ln/>
        </p:spPr>
      </p:sp>
      <p:sp>
        <p:nvSpPr>
          <p:cNvPr id="9" name="Text 6"/>
          <p:cNvSpPr txBox="1"/>
          <p:nvPr/>
        </p:nvSpPr>
        <p:spPr>
          <a:xfrm>
            <a:off x="740664" y="5353812"/>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811012"/>
            <a:ext cx="5358018"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Fielded to four classmates through the portal. The export of their answers is the file the estimator reads.</a:t>
            </a:r>
            <a:endParaRPr lang="en-US" sz="950" dirty="0"/>
          </a:p>
        </p:txBody>
      </p:sp>
      <p:sp>
        <p:nvSpPr>
          <p:cNvPr id="11" name="Text 8"/>
          <p:cNvSpPr txBox="1"/>
          <p:nvPr/>
        </p:nvSpPr>
        <p:spPr>
          <a:xfrm>
            <a:off x="6653632" y="1824228"/>
            <a:ext cx="5032400" cy="237744"/>
          </a:xfrm>
          <a:prstGeom prst="rect">
            <a:avLst/>
          </a:prstGeom>
          <a:noFill/>
          <a:ln/>
        </p:spPr>
        <p:txBody>
          <a:bodyPr wrap="square" lIns="0" tIns="0" rIns="0" bIns="0" rtlCol="0" anchor="ctr"/>
          <a:lstStyle/>
          <a:p>
            <a:pPr indent="0" marL="0">
              <a:buNone/>
            </a:pPr>
            <a:r>
              <a:rPr lang="en-US" sz="1250" b="1" dirty="0">
                <a:solidFill>
                  <a:srgbClr val="1C2B3A"/>
                </a:solidFill>
              </a:rPr>
              <a:t>What came back</a:t>
            </a:r>
            <a:endParaRPr lang="en-US" sz="12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653632" y="2098548"/>
          <a:ext cx="5032400" cy="914400"/>
        </p:xfrm>
        <a:graphic>
          <a:graphicData uri="http://schemas.openxmlformats.org/drawingml/2006/table">
            <a:tbl>
              <a:tblPr/>
              <a:tblGrid>
                <a:gridCol w="938244"/>
                <a:gridCol w="1108834"/>
                <a:gridCol w="1023539"/>
                <a:gridCol w="682359"/>
                <a:gridCol w="1279424"/>
              </a:tblGrid>
              <a:tr h="365760">
                <a:tc>
                  <a:txBody>
                    <a:bodyPr/>
                    <a:lstStyle/>
                    <a:p>
                      <a:pPr algn="ctr" indent="0" marL="0">
                        <a:buNone/>
                      </a:pPr>
                      <a:r>
                        <a:rPr lang="en-US" sz="950" b="1" dirty="0">
                          <a:solidFill>
                            <a:srgbClr val="FFFFFF"/>
                          </a:solidFill>
                        </a:rPr>
                        <a:t>Roll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Investable wealth</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Experience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Horizon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Primary goal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90,000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Moderate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5 yrs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Wealth creation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251250047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2 lakh</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None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10 yrs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Wealth creation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50" dirty="0">
                          <a:solidFill>
                            <a:srgbClr val="1C2B3A"/>
                          </a:solidFill>
                        </a:rPr>
                        <a:t>251250002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 lakh</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Limited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6 yrs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Wealth creation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 lakh</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Limited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15 yrs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Specified goal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13" name="Shape 9"/>
          <p:cNvSpPr/>
          <p:nvPr/>
        </p:nvSpPr>
        <p:spPr>
          <a:xfrm>
            <a:off x="6653632" y="4073652"/>
            <a:ext cx="5032400" cy="987552"/>
          </a:xfrm>
          <a:prstGeom prst="rect">
            <a:avLst/>
          </a:prstGeom>
          <a:solidFill>
            <a:srgbClr val="F2F5F9"/>
          </a:solidFill>
          <a:ln/>
        </p:spPr>
      </p:sp>
      <p:sp>
        <p:nvSpPr>
          <p:cNvPr id="14" name="Shape 10"/>
          <p:cNvSpPr/>
          <p:nvPr/>
        </p:nvSpPr>
        <p:spPr>
          <a:xfrm>
            <a:off x="6653632" y="4073652"/>
            <a:ext cx="59436" cy="987552"/>
          </a:xfrm>
          <a:prstGeom prst="rect">
            <a:avLst/>
          </a:prstGeom>
          <a:solidFill>
            <a:srgbClr val="F0922B"/>
          </a:solidFill>
          <a:ln/>
        </p:spPr>
      </p:sp>
      <p:sp>
        <p:nvSpPr>
          <p:cNvPr id="15" name="Text 11"/>
          <p:cNvSpPr txBox="1"/>
          <p:nvPr/>
        </p:nvSpPr>
        <p:spPr>
          <a:xfrm>
            <a:off x="6891376" y="4183380"/>
            <a:ext cx="4575200" cy="457200"/>
          </a:xfrm>
          <a:prstGeom prst="rect">
            <a:avLst/>
          </a:prstGeom>
          <a:noFill/>
          <a:ln/>
        </p:spPr>
        <p:txBody>
          <a:bodyPr wrap="square" lIns="0" tIns="0" rIns="0" bIns="0" rtlCol="0" anchor="t"/>
          <a:lstStyle/>
          <a:p>
            <a:pPr indent="0" marL="0">
              <a:buNone/>
            </a:pPr>
            <a:r>
              <a:rPr lang="en-US" sz="1200" b="1" dirty="0">
                <a:solidFill>
                  <a:srgbClr val="1C2B3A"/>
                </a:solidFill>
              </a:rPr>
              <a:t>How the step was completed</a:t>
            </a:r>
            <a:endParaRPr lang="en-US" sz="1200" dirty="0"/>
          </a:p>
        </p:txBody>
      </p:sp>
      <p:sp>
        <p:nvSpPr>
          <p:cNvPr id="16" name="Text 12"/>
          <p:cNvSpPr txBox="1"/>
          <p:nvPr/>
        </p:nvSpPr>
        <p:spPr>
          <a:xfrm>
            <a:off x="6891376" y="4640580"/>
            <a:ext cx="4575200" cy="274320"/>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Four responses collected and transcribed into one machine readable file.</a:t>
            </a:r>
            <a:endParaRPr lang="en-US" sz="950" dirty="0"/>
          </a:p>
        </p:txBody>
      </p:sp>
      <p:sp>
        <p:nvSpPr>
          <p:cNvPr id="17" name="Shape 13"/>
          <p:cNvSpPr/>
          <p:nvPr/>
        </p:nvSpPr>
        <p:spPr>
          <a:xfrm>
            <a:off x="6653632" y="5207508"/>
            <a:ext cx="5032400" cy="987552"/>
          </a:xfrm>
          <a:prstGeom prst="rect">
            <a:avLst/>
          </a:prstGeom>
          <a:solidFill>
            <a:srgbClr val="F2F5F9"/>
          </a:solidFill>
          <a:ln/>
        </p:spPr>
      </p:sp>
      <p:sp>
        <p:nvSpPr>
          <p:cNvPr id="18" name="Shape 14"/>
          <p:cNvSpPr/>
          <p:nvPr/>
        </p:nvSpPr>
        <p:spPr>
          <a:xfrm>
            <a:off x="6653632" y="5207508"/>
            <a:ext cx="59436" cy="987552"/>
          </a:xfrm>
          <a:prstGeom prst="rect">
            <a:avLst/>
          </a:prstGeom>
          <a:solidFill>
            <a:srgbClr val="2E9E5B"/>
          </a:solidFill>
          <a:ln/>
        </p:spPr>
      </p:sp>
      <p:sp>
        <p:nvSpPr>
          <p:cNvPr id="19" name="Text 15"/>
          <p:cNvSpPr txBox="1"/>
          <p:nvPr/>
        </p:nvSpPr>
        <p:spPr>
          <a:xfrm>
            <a:off x="6891376" y="5317236"/>
            <a:ext cx="4575200" cy="457200"/>
          </a:xfrm>
          <a:prstGeom prst="rect">
            <a:avLst/>
          </a:prstGeom>
          <a:noFill/>
          <a:ln/>
        </p:spPr>
        <p:txBody>
          <a:bodyPr wrap="square" lIns="0" tIns="0" rIns="0" bIns="0" rtlCol="0" anchor="t"/>
          <a:lstStyle/>
          <a:p>
            <a:pPr indent="0" marL="0">
              <a:buNone/>
            </a:pPr>
            <a:r>
              <a:rPr lang="en-US" sz="1200" b="1" dirty="0">
                <a:solidFill>
                  <a:srgbClr val="1C2B3A"/>
                </a:solidFill>
              </a:rPr>
              <a:t>Output of Step 1</a:t>
            </a:r>
            <a:endParaRPr lang="en-US" sz="1200" dirty="0"/>
          </a:p>
        </p:txBody>
      </p:sp>
      <p:sp>
        <p:nvSpPr>
          <p:cNvPr id="20" name="Text 16"/>
          <p:cNvSpPr txBox="1"/>
          <p:nvPr/>
        </p:nvSpPr>
        <p:spPr>
          <a:xfrm>
            <a:off x="6891376" y="5774436"/>
            <a:ext cx="4575200" cy="274320"/>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engine/responses_real.json, the single input to every later step.</a:t>
            </a:r>
            <a:endParaRPr lang="en-US" sz="950" dirty="0"/>
          </a:p>
        </p:txBody>
      </p:sp>
      <p:sp>
        <p:nvSpPr>
          <p:cNvPr id="22"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2 OF 6</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Measure the Attitude to Risk</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put a sure amount against a fair gamble and see which one the respondent takes, row by row.</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2, all eight rows exactly as asked</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528656"/>
                <a:gridCol w="1938406"/>
                <a:gridCol w="3348156"/>
              </a:tblGrid>
              <a:tr h="365760">
                <a:tc>
                  <a:txBody>
                    <a:bodyPr/>
                    <a:lstStyle/>
                    <a:p>
                      <a:pPr algn="ctr" indent="0" marL="0">
                        <a:buNone/>
                      </a:pPr>
                      <a:r>
                        <a:rPr lang="en-US" sz="950" b="1" dirty="0">
                          <a:solidFill>
                            <a:srgbClr val="FFFFFF"/>
                          </a:solidFill>
                        </a:rPr>
                        <a: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 you get for sure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B: coin flip</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10896">
                <a:tc>
                  <a:txBody>
                    <a:bodyPr/>
                    <a:lstStyle/>
                    <a:p>
                      <a:pPr algn="ctr" indent="0" marL="0">
                        <a:buNone/>
                      </a:pPr>
                      <a:r>
                        <a:rPr lang="en-US" sz="950" dirty="0">
                          <a:solidFill>
                            <a:srgbClr val="1C2B3A"/>
                          </a:solidFill>
                        </a:rPr>
                        <a:t>1</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20,000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12,000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24,000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3</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15,000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30,000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4</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20,000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40,000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25,000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50,000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30,000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60,000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40,000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80,000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50,000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 lakh or nothing, 50:50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097780"/>
            <a:ext cx="5815218" cy="1097280"/>
          </a:xfrm>
          <a:prstGeom prst="rect">
            <a:avLst/>
          </a:prstGeom>
          <a:solidFill>
            <a:srgbClr val="F2F5F9"/>
          </a:solidFill>
          <a:ln/>
        </p:spPr>
      </p:sp>
      <p:sp>
        <p:nvSpPr>
          <p:cNvPr id="8" name="Shape 5"/>
          <p:cNvSpPr/>
          <p:nvPr/>
        </p:nvSpPr>
        <p:spPr>
          <a:xfrm>
            <a:off x="502920" y="5097780"/>
            <a:ext cx="59436" cy="1097280"/>
          </a:xfrm>
          <a:prstGeom prst="rect">
            <a:avLst/>
          </a:prstGeom>
          <a:solidFill>
            <a:srgbClr val="00A99D"/>
          </a:solidFill>
          <a:ln/>
        </p:spPr>
      </p:sp>
      <p:sp>
        <p:nvSpPr>
          <p:cNvPr id="9" name="Text 6"/>
          <p:cNvSpPr txBox="1"/>
          <p:nvPr/>
        </p:nvSpPr>
        <p:spPr>
          <a:xfrm>
            <a:off x="740664" y="5207508"/>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664708"/>
            <a:ext cx="5358018" cy="38404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The sure amount equals the gamble's average on every row, so one utility curve means the same side all eight times. We read the pattern of the picks.</a:t>
            </a:r>
            <a:endParaRPr lang="en-US" sz="950" dirty="0"/>
          </a:p>
        </p:txBody>
      </p:sp>
      <p:pic>
        <p:nvPicPr>
          <p:cNvPr id="11" name="Image 0" descr="/Users/siddharthjaiswal/Desktop/SEM_7/MBA680/Problem_statement_2/figures/c3_risk_ladder.png">    </p:cNvPr>
          <p:cNvPicPr>
            <a:picLocks noChangeAspect="1"/>
          </p:cNvPicPr>
          <p:nvPr/>
        </p:nvPicPr>
        <p:blipFill>
          <a:blip r:embed="rId1"/>
          <a:stretch>
            <a:fillRect/>
          </a:stretch>
        </p:blipFill>
        <p:spPr>
          <a:xfrm>
            <a:off x="6840093" y="1824228"/>
            <a:ext cx="4659477" cy="1691640"/>
          </a:xfrm>
          <a:prstGeom prst="rect">
            <a:avLst/>
          </a:prstGeom>
        </p:spPr>
      </p:pic>
      <p:sp>
        <p:nvSpPr>
          <p:cNvPr id="12" name="Shape 8"/>
          <p:cNvSpPr/>
          <p:nvPr/>
        </p:nvSpPr>
        <p:spPr>
          <a:xfrm>
            <a:off x="6653632" y="3662172"/>
            <a:ext cx="5032400" cy="1188720"/>
          </a:xfrm>
          <a:prstGeom prst="rect">
            <a:avLst/>
          </a:prstGeom>
          <a:solidFill>
            <a:srgbClr val="F2F5F9"/>
          </a:solidFill>
          <a:ln/>
        </p:spPr>
      </p:sp>
      <p:sp>
        <p:nvSpPr>
          <p:cNvPr id="13" name="Shape 9"/>
          <p:cNvSpPr/>
          <p:nvPr/>
        </p:nvSpPr>
        <p:spPr>
          <a:xfrm>
            <a:off x="6653632" y="3662172"/>
            <a:ext cx="59436" cy="1188720"/>
          </a:xfrm>
          <a:prstGeom prst="rect">
            <a:avLst/>
          </a:prstGeom>
          <a:solidFill>
            <a:srgbClr val="F0922B"/>
          </a:solidFill>
          <a:ln/>
        </p:spPr>
      </p:sp>
      <p:sp>
        <p:nvSpPr>
          <p:cNvPr id="14" name="Text 10"/>
          <p:cNvSpPr txBox="1"/>
          <p:nvPr/>
        </p:nvSpPr>
        <p:spPr>
          <a:xfrm>
            <a:off x="6891376" y="3771900"/>
            <a:ext cx="4575200" cy="457200"/>
          </a:xfrm>
          <a:prstGeom prst="rect">
            <a:avLst/>
          </a:prstGeom>
          <a:noFill/>
          <a:ln/>
        </p:spPr>
        <p:txBody>
          <a:bodyPr wrap="square" lIns="0" tIns="0" rIns="0" bIns="0" rtlCol="0" anchor="t"/>
          <a:lstStyle/>
          <a:p>
            <a:pPr indent="0" marL="0">
              <a:buNone/>
            </a:pPr>
            <a:r>
              <a:rPr lang="en-US" sz="1200" b="1" dirty="0">
                <a:solidFill>
                  <a:srgbClr val="1C2B3A"/>
                </a:solidFill>
              </a:rPr>
              <a:t>How the step was completed</a:t>
            </a:r>
            <a:endParaRPr lang="en-US" sz="1200" dirty="0"/>
          </a:p>
        </p:txBody>
      </p:sp>
      <p:sp>
        <p:nvSpPr>
          <p:cNvPr id="15" name="Text 11"/>
          <p:cNvSpPr txBox="1"/>
          <p:nvPr/>
        </p:nvSpPr>
        <p:spPr>
          <a:xfrm>
            <a:off x="6891376" y="4229100"/>
            <a:ext cx="4575200" cy="4754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All four patterns were classified. 251250047 took the sure amount every time and 251250030 took the coin flip every time.</a:t>
            </a:r>
            <a:endParaRPr lang="en-US" sz="950" dirty="0"/>
          </a:p>
        </p:txBody>
      </p:sp>
      <p:sp>
        <p:nvSpPr>
          <p:cNvPr id="16" name="Shape 12"/>
          <p:cNvSpPr/>
          <p:nvPr/>
        </p:nvSpPr>
        <p:spPr>
          <a:xfrm>
            <a:off x="6653632" y="4997196"/>
            <a:ext cx="5032400" cy="1188720"/>
          </a:xfrm>
          <a:prstGeom prst="rect">
            <a:avLst/>
          </a:prstGeom>
          <a:solidFill>
            <a:srgbClr val="F2F5F9"/>
          </a:solidFill>
          <a:ln/>
        </p:spPr>
      </p:sp>
      <p:sp>
        <p:nvSpPr>
          <p:cNvPr id="17" name="Shape 13"/>
          <p:cNvSpPr/>
          <p:nvPr/>
        </p:nvSpPr>
        <p:spPr>
          <a:xfrm>
            <a:off x="6653632" y="4997196"/>
            <a:ext cx="59436" cy="1188720"/>
          </a:xfrm>
          <a:prstGeom prst="rect">
            <a:avLst/>
          </a:prstGeom>
          <a:solidFill>
            <a:srgbClr val="2E9E5B"/>
          </a:solidFill>
          <a:ln/>
        </p:spPr>
      </p:sp>
      <p:sp>
        <p:nvSpPr>
          <p:cNvPr id="18" name="Text 14"/>
          <p:cNvSpPr txBox="1"/>
          <p:nvPr/>
        </p:nvSpPr>
        <p:spPr>
          <a:xfrm>
            <a:off x="6891376" y="5106924"/>
            <a:ext cx="4575200" cy="457200"/>
          </a:xfrm>
          <a:prstGeom prst="rect">
            <a:avLst/>
          </a:prstGeom>
          <a:noFill/>
          <a:ln/>
        </p:spPr>
        <p:txBody>
          <a:bodyPr wrap="square" lIns="0" tIns="0" rIns="0" bIns="0" rtlCol="0" anchor="t"/>
          <a:lstStyle/>
          <a:p>
            <a:pPr indent="0" marL="0">
              <a:buNone/>
            </a:pPr>
            <a:r>
              <a:rPr lang="en-US" sz="1200" b="1" dirty="0">
                <a:solidFill>
                  <a:srgbClr val="1C2B3A"/>
                </a:solidFill>
              </a:rPr>
              <a:t>What it told us</a:t>
            </a:r>
            <a:endParaRPr lang="en-US" sz="1200" dirty="0"/>
          </a:p>
        </p:txBody>
      </p:sp>
      <p:sp>
        <p:nvSpPr>
          <p:cNvPr id="19" name="Text 15"/>
          <p:cNvSpPr txBox="1"/>
          <p:nvPr/>
        </p:nvSpPr>
        <p:spPr>
          <a:xfrm>
            <a:off x="6891376" y="5564124"/>
            <a:ext cx="4575200" cy="4754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251250039 and 251250002 switch part way down, at rows 4 and 3, exactly as prospect theory predicts.</a:t>
            </a:r>
            <a:endParaRPr lang="en-US" sz="950" dirty="0"/>
          </a:p>
        </p:txBody>
      </p:sp>
      <p:sp>
        <p:nvSpPr>
          <p:cNvPr id="21"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3 OF 6</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Measure the Attitude to Waiting</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offer money now against more money later and find the return that makes waiting worthwhile.</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3, all six rows exactly as asked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545177"/>
                <a:gridCol w="1635530"/>
                <a:gridCol w="1998981"/>
                <a:gridCol w="1635530"/>
              </a:tblGrid>
              <a:tr h="365760">
                <a:tc>
                  <a:txBody>
                    <a:bodyPr/>
                    <a:lstStyle/>
                    <a:p>
                      <a:pPr algn="ctr" indent="0" marL="0">
                        <a:buNone/>
                      </a:pPr>
                      <a:r>
                        <a:rPr lang="en-US" sz="950" b="1" dirty="0">
                          <a:solidFill>
                            <a:srgbClr val="FFFFFF"/>
                          </a:solidFill>
                        </a:rPr>
                        <a: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Take now</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Or wait and get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Wait how long</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10896">
                <a:tc>
                  <a:txBody>
                    <a:bodyPr/>
                    <a:lstStyle/>
                    <a:p>
                      <a:pPr algn="ctr" indent="0" marL="0">
                        <a:buNone/>
                      </a:pPr>
                      <a:r>
                        <a:rPr lang="en-US" sz="950" dirty="0">
                          <a:solidFill>
                            <a:srgbClr val="1C2B3A"/>
                          </a:solidFill>
                        </a:rPr>
                        <a:t>1</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10,500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 year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11,000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 year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3</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12,000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 year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4</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13,000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 year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15,000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 years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18,000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2 years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475988"/>
            <a:ext cx="5815218" cy="1371600"/>
          </a:xfrm>
          <a:prstGeom prst="rect">
            <a:avLst/>
          </a:prstGeom>
          <a:solidFill>
            <a:srgbClr val="F2F5F9"/>
          </a:solidFill>
          <a:ln/>
        </p:spPr>
      </p:sp>
      <p:sp>
        <p:nvSpPr>
          <p:cNvPr id="8" name="Shape 5"/>
          <p:cNvSpPr/>
          <p:nvPr/>
        </p:nvSpPr>
        <p:spPr>
          <a:xfrm>
            <a:off x="502920" y="4475988"/>
            <a:ext cx="59436" cy="1371600"/>
          </a:xfrm>
          <a:prstGeom prst="rect">
            <a:avLst/>
          </a:prstGeom>
          <a:solidFill>
            <a:srgbClr val="00A99D"/>
          </a:solidFill>
          <a:ln/>
        </p:spPr>
      </p:sp>
      <p:sp>
        <p:nvSpPr>
          <p:cNvPr id="9" name="Text 6"/>
          <p:cNvSpPr txBox="1"/>
          <p:nvPr/>
        </p:nvSpPr>
        <p:spPr>
          <a:xfrm>
            <a:off x="740664" y="4585716"/>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042916"/>
            <a:ext cx="5358018" cy="65836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Each row implies a yearly return. The lowest offer waited for and the highest one turned down bracket the personal discount rate, and the midpoint of that bracket is the point estimate.</a:t>
            </a:r>
            <a:endParaRPr lang="en-US" sz="950" dirty="0"/>
          </a:p>
        </p:txBody>
      </p:sp>
      <p:pic>
        <p:nvPicPr>
          <p:cNvPr id="11" name="Image 0" descr="/Users/siddharthjaiswal/Desktop/SEM_7/MBA680/Problem_statement_2/figures/c4_discount.png">    </p:cNvPr>
          <p:cNvPicPr>
            <a:picLocks noChangeAspect="1"/>
          </p:cNvPicPr>
          <p:nvPr/>
        </p:nvPicPr>
        <p:blipFill>
          <a:blip r:embed="rId1"/>
          <a:stretch>
            <a:fillRect/>
          </a:stretch>
        </p:blipFill>
        <p:spPr>
          <a:xfrm>
            <a:off x="7547038" y="1824228"/>
            <a:ext cx="3245588" cy="1691640"/>
          </a:xfrm>
          <a:prstGeom prst="rect">
            <a:avLst/>
          </a:prstGeom>
        </p:spPr>
      </p:pic>
      <p:sp>
        <p:nvSpPr>
          <p:cNvPr id="12" name="Shape 8"/>
          <p:cNvSpPr/>
          <p:nvPr/>
        </p:nvSpPr>
        <p:spPr>
          <a:xfrm>
            <a:off x="6653632" y="3662172"/>
            <a:ext cx="5032400" cy="1188720"/>
          </a:xfrm>
          <a:prstGeom prst="rect">
            <a:avLst/>
          </a:prstGeom>
          <a:solidFill>
            <a:srgbClr val="F2F5F9"/>
          </a:solidFill>
          <a:ln/>
        </p:spPr>
      </p:sp>
      <p:sp>
        <p:nvSpPr>
          <p:cNvPr id="13" name="Shape 9"/>
          <p:cNvSpPr/>
          <p:nvPr/>
        </p:nvSpPr>
        <p:spPr>
          <a:xfrm>
            <a:off x="6653632" y="3662172"/>
            <a:ext cx="59436" cy="1188720"/>
          </a:xfrm>
          <a:prstGeom prst="rect">
            <a:avLst/>
          </a:prstGeom>
          <a:solidFill>
            <a:srgbClr val="F0922B"/>
          </a:solidFill>
          <a:ln/>
        </p:spPr>
      </p:sp>
      <p:sp>
        <p:nvSpPr>
          <p:cNvPr id="14" name="Text 10"/>
          <p:cNvSpPr txBox="1"/>
          <p:nvPr/>
        </p:nvSpPr>
        <p:spPr>
          <a:xfrm>
            <a:off x="6891376" y="3771900"/>
            <a:ext cx="4575200" cy="457200"/>
          </a:xfrm>
          <a:prstGeom prst="rect">
            <a:avLst/>
          </a:prstGeom>
          <a:noFill/>
          <a:ln/>
        </p:spPr>
        <p:txBody>
          <a:bodyPr wrap="square" lIns="0" tIns="0" rIns="0" bIns="0" rtlCol="0" anchor="t"/>
          <a:lstStyle/>
          <a:p>
            <a:pPr indent="0" marL="0">
              <a:buNone/>
            </a:pPr>
            <a:r>
              <a:rPr lang="en-US" sz="1200" b="1" dirty="0">
                <a:solidFill>
                  <a:srgbClr val="1C2B3A"/>
                </a:solidFill>
              </a:rPr>
              <a:t>How the step was completed</a:t>
            </a:r>
            <a:endParaRPr lang="en-US" sz="1200" dirty="0"/>
          </a:p>
        </p:txBody>
      </p:sp>
      <p:sp>
        <p:nvSpPr>
          <p:cNvPr id="15" name="Text 11"/>
          <p:cNvSpPr txBox="1"/>
          <p:nvPr/>
        </p:nvSpPr>
        <p:spPr>
          <a:xfrm>
            <a:off x="6891376" y="4229100"/>
            <a:ext cx="4575200" cy="4754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A discount rate was produced for all four. 251250039 came out near 21.2% a year and 251250002 near 15.0%.</a:t>
            </a:r>
            <a:endParaRPr lang="en-US" sz="950" dirty="0"/>
          </a:p>
        </p:txBody>
      </p:sp>
      <p:sp>
        <p:nvSpPr>
          <p:cNvPr id="16" name="Shape 12"/>
          <p:cNvSpPr/>
          <p:nvPr/>
        </p:nvSpPr>
        <p:spPr>
          <a:xfrm>
            <a:off x="6653632" y="4997196"/>
            <a:ext cx="5032400" cy="1188720"/>
          </a:xfrm>
          <a:prstGeom prst="rect">
            <a:avLst/>
          </a:prstGeom>
          <a:solidFill>
            <a:srgbClr val="F2F5F9"/>
          </a:solidFill>
          <a:ln/>
        </p:spPr>
      </p:sp>
      <p:sp>
        <p:nvSpPr>
          <p:cNvPr id="17" name="Shape 13"/>
          <p:cNvSpPr/>
          <p:nvPr/>
        </p:nvSpPr>
        <p:spPr>
          <a:xfrm>
            <a:off x="6653632" y="4997196"/>
            <a:ext cx="59436" cy="1188720"/>
          </a:xfrm>
          <a:prstGeom prst="rect">
            <a:avLst/>
          </a:prstGeom>
          <a:solidFill>
            <a:srgbClr val="2E9E5B"/>
          </a:solidFill>
          <a:ln/>
        </p:spPr>
      </p:sp>
      <p:sp>
        <p:nvSpPr>
          <p:cNvPr id="18" name="Text 14"/>
          <p:cNvSpPr txBox="1"/>
          <p:nvPr/>
        </p:nvSpPr>
        <p:spPr>
          <a:xfrm>
            <a:off x="6891376" y="5106924"/>
            <a:ext cx="4575200" cy="457200"/>
          </a:xfrm>
          <a:prstGeom prst="rect">
            <a:avLst/>
          </a:prstGeom>
          <a:noFill/>
          <a:ln/>
        </p:spPr>
        <p:txBody>
          <a:bodyPr wrap="square" lIns="0" tIns="0" rIns="0" bIns="0" rtlCol="0" anchor="t"/>
          <a:lstStyle/>
          <a:p>
            <a:pPr indent="0" marL="0">
              <a:buNone/>
            </a:pPr>
            <a:r>
              <a:rPr lang="en-US" sz="1200" b="1" dirty="0">
                <a:solidFill>
                  <a:srgbClr val="1C2B3A"/>
                </a:solidFill>
              </a:rPr>
              <a:t>What it told us</a:t>
            </a:r>
            <a:endParaRPr lang="en-US" sz="1200" dirty="0"/>
          </a:p>
        </p:txBody>
      </p:sp>
      <p:sp>
        <p:nvSpPr>
          <p:cNvPr id="19" name="Text 15"/>
          <p:cNvSpPr txBox="1"/>
          <p:nvPr/>
        </p:nvSpPr>
        <p:spPr>
          <a:xfrm>
            <a:off x="6891376" y="5564124"/>
            <a:ext cx="4575200" cy="4754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Every rate sits above any return on offer, and 251250030 preferred cash at every rung. Worth a conversation about the real horizon.</a:t>
            </a:r>
            <a:endParaRPr lang="en-US" sz="950" dirty="0"/>
          </a:p>
        </p:txBody>
      </p:sp>
      <p:sp>
        <p:nvSpPr>
          <p:cNvPr id="21"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4 OF 6, PART 1</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Fit the Utility Curve</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elicit a utility curve over wealth by the probability equivalence method from the lecture.</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5, with one respondent's own answers alongside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516908"/>
                <a:gridCol w="3876812"/>
                <a:gridCol w="1421498"/>
              </a:tblGrid>
              <a:tr h="365760">
                <a:tc>
                  <a:txBody>
                    <a:bodyPr/>
                    <a:lstStyle/>
                    <a:p>
                      <a:pPr algn="ctr" indent="0" marL="0">
                        <a:buNone/>
                      </a:pPr>
                      <a:r>
                        <a:rPr lang="en-US" sz="950" b="1" dirty="0">
                          <a:solidFill>
                            <a:srgbClr val="FFFFFF"/>
                          </a:solidFill>
                        </a:rPr>
                        <a:t>Item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Question on the form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251250039 said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84048">
                <a:tc>
                  <a:txBody>
                    <a:bodyPr/>
                    <a:lstStyle/>
                    <a:p>
                      <a:pPr algn="ctr" indent="0" marL="0">
                        <a:buNone/>
                      </a:pPr>
                      <a:r>
                        <a:rPr lang="en-US" sz="950" dirty="0">
                          <a:solidFill>
                            <a:srgbClr val="1C2B3A"/>
                          </a:solidFill>
                        </a:rPr>
                        <a:t>A</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The lowest amount that feels relevant to you</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84048">
                <a:tc>
                  <a:txBody>
                    <a:bodyPr/>
                    <a:lstStyle/>
                    <a:p>
                      <a:pPr algn="ctr" indent="0" marL="0">
                        <a:buNone/>
                      </a:pPr>
                      <a:r>
                        <a:rPr lang="en-US" sz="950" dirty="0">
                          <a:solidFill>
                            <a:srgbClr val="1C2B3A"/>
                          </a:solidFill>
                        </a:rPr>
                        <a:t>B</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The highest amount that feels relevant to you</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50,000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C2B3A"/>
                          </a:solidFill>
                        </a:rPr>
                        <a:t>U1</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30,000 for sure, or play the game. What winning chance makes the two feel the same?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70 in 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84048">
                <a:tc>
                  <a:txBody>
                    <a:bodyPr/>
                    <a:lstStyle/>
                    <a:p>
                      <a:pPr algn="ctr" indent="0" marL="0">
                        <a:buNone/>
                      </a:pPr>
                      <a:r>
                        <a:rPr lang="en-US" sz="950" dirty="0">
                          <a:solidFill>
                            <a:srgbClr val="1C2B3A"/>
                          </a:solidFill>
                        </a:rPr>
                        <a:t>U2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40,000 for sure, or play the game. What winning chance makes the two feel the same?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76 in 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C2B3A"/>
                          </a:solidFill>
                        </a:rPr>
                        <a:t>U3</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45,000 for sure, or play the game. What winning chance makes the two feel the same?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80 in 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84048">
                <a:tc>
                  <a:txBody>
                    <a:bodyPr/>
                    <a:lstStyle/>
                    <a:p>
                      <a:pPr algn="ctr" indent="0" marL="0">
                        <a:buNone/>
                      </a:pPr>
                      <a:r>
                        <a:rPr lang="en-US" sz="950" dirty="0">
                          <a:solidFill>
                            <a:srgbClr val="1C2B3A"/>
                          </a:solidFill>
                        </a:rPr>
                        <a:t>U4</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Rs 47,999 for sure, or play the game. What winning chance makes the two feel the same?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94 in 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914900"/>
            <a:ext cx="5815218" cy="1280160"/>
          </a:xfrm>
          <a:prstGeom prst="rect">
            <a:avLst/>
          </a:prstGeom>
          <a:solidFill>
            <a:srgbClr val="F2F5F9"/>
          </a:solidFill>
          <a:ln/>
        </p:spPr>
      </p:sp>
      <p:sp>
        <p:nvSpPr>
          <p:cNvPr id="8" name="Shape 5"/>
          <p:cNvSpPr/>
          <p:nvPr/>
        </p:nvSpPr>
        <p:spPr>
          <a:xfrm>
            <a:off x="502920" y="4914900"/>
            <a:ext cx="59436" cy="1280160"/>
          </a:xfrm>
          <a:prstGeom prst="rect">
            <a:avLst/>
          </a:prstGeom>
          <a:solidFill>
            <a:srgbClr val="00A99D"/>
          </a:solidFill>
          <a:ln/>
        </p:spPr>
      </p:sp>
      <p:sp>
        <p:nvSpPr>
          <p:cNvPr id="9" name="Text 6"/>
          <p:cNvSpPr txBox="1"/>
          <p:nvPr/>
        </p:nvSpPr>
        <p:spPr>
          <a:xfrm>
            <a:off x="740664" y="5024628"/>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481828"/>
            <a:ext cx="5358018" cy="56692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Set U(A) = 0 and U(B) = 1. At indifference the stated chance is the utility of the sure amount, so U(X) = p. Those points were fitted with a constant relative risk aversion curve by least squares.</a:t>
            </a:r>
            <a:endParaRPr lang="en-US" sz="950" dirty="0"/>
          </a:p>
        </p:txBody>
      </p:sp>
      <p:pic>
        <p:nvPicPr>
          <p:cNvPr id="11" name="Image 0" descr="/Users/siddharthjaiswal/Desktop/SEM_7/MBA680/Problem_statement_2/figures/c1_utility.png">    </p:cNvPr>
          <p:cNvPicPr>
            <a:picLocks noChangeAspect="1"/>
          </p:cNvPicPr>
          <p:nvPr/>
        </p:nvPicPr>
        <p:blipFill>
          <a:blip r:embed="rId1"/>
          <a:stretch>
            <a:fillRect/>
          </a:stretch>
        </p:blipFill>
        <p:spPr>
          <a:xfrm>
            <a:off x="7571380" y="1824228"/>
            <a:ext cx="3196905" cy="1554480"/>
          </a:xfrm>
          <a:prstGeom prst="rect">
            <a:avLst/>
          </a:prstGeom>
        </p:spPr>
      </p:pic>
      <p:sp>
        <p:nvSpPr>
          <p:cNvPr id="12" name="Text 8"/>
          <p:cNvSpPr txBox="1"/>
          <p:nvPr/>
        </p:nvSpPr>
        <p:spPr>
          <a:xfrm>
            <a:off x="6653632" y="3525012"/>
            <a:ext cx="5032400" cy="237744"/>
          </a:xfrm>
          <a:prstGeom prst="rect">
            <a:avLst/>
          </a:prstGeom>
          <a:noFill/>
          <a:ln/>
        </p:spPr>
        <p:txBody>
          <a:bodyPr wrap="square" lIns="0" tIns="0" rIns="0" bIns="0" rtlCol="0" anchor="ctr"/>
          <a:lstStyle/>
          <a:p>
            <a:pPr indent="0" marL="0">
              <a:buNone/>
            </a:pPr>
            <a:r>
              <a:rPr lang="en-US" sz="1250" b="1" dirty="0">
                <a:solidFill>
                  <a:srgbClr val="1C2B3A"/>
                </a:solidFill>
              </a:rPr>
              <a:t>The fitted curves</a:t>
            </a:r>
            <a:endParaRPr lang="en-US" sz="12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653632" y="3799332"/>
          <a:ext cx="5032400" cy="914400"/>
        </p:xfrm>
        <a:graphic>
          <a:graphicData uri="http://schemas.openxmlformats.org/drawingml/2006/table">
            <a:tbl>
              <a:tblPr/>
              <a:tblGrid>
                <a:gridCol w="1048417"/>
                <a:gridCol w="1677467"/>
                <a:gridCol w="1362942"/>
                <a:gridCol w="943575"/>
              </a:tblGrid>
              <a:tr h="365760">
                <a:tc>
                  <a:txBody>
                    <a:bodyPr/>
                    <a:lstStyle/>
                    <a:p>
                      <a:pPr algn="ctr" indent="0" marL="0">
                        <a:buNone/>
                      </a:pPr>
                      <a:r>
                        <a:rPr lang="en-US" sz="950" b="1" dirty="0">
                          <a:solidFill>
                            <a:srgbClr val="FFFFFF"/>
                          </a:solidFill>
                        </a:rPr>
                        <a:t>Roll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Range A to B</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Risk aversion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Fit R2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 to Rs 50,000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0.66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0.202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251250047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50" dirty="0">
                          <a:solidFill>
                            <a:srgbClr val="1C2B3A"/>
                          </a:solidFill>
                        </a:rPr>
                        <a:t>251250002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Rs 10,000 to Rs 50,000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1.18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0.948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14" name="Text 9"/>
          <p:cNvSpPr txBox="1"/>
          <p:nvPr/>
        </p:nvSpPr>
        <p:spPr>
          <a:xfrm>
            <a:off x="6653632" y="5774436"/>
            <a:ext cx="5032400" cy="411480"/>
          </a:xfrm>
          <a:prstGeom prst="rect">
            <a:avLst/>
          </a:prstGeom>
          <a:noFill/>
          <a:ln/>
        </p:spPr>
        <p:txBody>
          <a:bodyPr wrap="square" lIns="0" tIns="0" rIns="0" bIns="0" rtlCol="0" anchor="ctr"/>
          <a:lstStyle/>
          <a:p>
            <a:pPr indent="0" marL="0">
              <a:buNone/>
            </a:pPr>
            <a:r>
              <a:rPr lang="en-US" sz="950" i="1" dirty="0">
                <a:solidFill>
                  <a:srgbClr val="8898A8"/>
                </a:solidFill>
              </a:rPr>
              <a:t>Both curves came out concave, so both respondents are risk averse: A = 0.66 and A = 1.18. That coefficient is the A used directly in Step 5.</a:t>
            </a:r>
            <a:endParaRPr lang="en-US" sz="950" dirty="0"/>
          </a:p>
        </p:txBody>
      </p:sp>
      <p:sp>
        <p:nvSpPr>
          <p:cNvPr id="16"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4 OF 6, PART 2</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Fit the Value Function Over Gains and Losses</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measure how gains and losses are coded against a reference point, as prospect theory sets it out.</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6, all seven fields exactly as asked</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505671"/>
                <a:gridCol w="3792534"/>
                <a:gridCol w="1517013"/>
              </a:tblGrid>
              <a:tr h="365760">
                <a:tc>
                  <a:txBody>
                    <a:bodyPr/>
                    <a:lstStyle/>
                    <a:p>
                      <a:pPr algn="ctr" indent="0" marL="0">
                        <a:buNone/>
                      </a:pPr>
                      <a:r>
                        <a:rPr lang="en-US" sz="950" b="1" dirty="0">
                          <a:solidFill>
                            <a:srgbClr val="FFFFFF"/>
                          </a:solidFill>
                        </a:rPr>
                        <a:t>Item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Question on the form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Answer scale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47472">
                <a:tc>
                  <a:txBody>
                    <a:bodyPr/>
                    <a:lstStyle/>
                    <a:p>
                      <a:pPr algn="ctr" indent="0" marL="0">
                        <a:buNone/>
                      </a:pPr>
                      <a:r>
                        <a:rPr lang="en-US" sz="950" dirty="0">
                          <a:solidFill>
                            <a:srgbClr val="1C2B3A"/>
                          </a:solidFill>
                        </a:rPr>
                        <a:t>W0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The amount you measure gains and losses against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Rupees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47472">
                <a:tc>
                  <a:txBody>
                    <a:bodyPr/>
                    <a:lstStyle/>
                    <a:p>
                      <a:pPr algn="ctr" indent="0" marL="0">
                        <a:buNone/>
                      </a:pPr>
                      <a:r>
                        <a:rPr lang="en-US" sz="950" dirty="0">
                          <a:solidFill>
                            <a:srgbClr val="1C2B3A"/>
                          </a:solidFill>
                        </a:rPr>
                        <a:t>V1</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Win Rs 10,000 for sure, or play for Rs 20,000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Winning chance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47472">
                <a:tc>
                  <a:txBody>
                    <a:bodyPr/>
                    <a:lstStyle/>
                    <a:p>
                      <a:pPr algn="ctr" indent="0" marL="0">
                        <a:buNone/>
                      </a:pPr>
                      <a:r>
                        <a:rPr lang="en-US" sz="950" dirty="0">
                          <a:solidFill>
                            <a:srgbClr val="1C2B3A"/>
                          </a:solidFill>
                        </a:rPr>
                        <a:t>V2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Win Rs 20,000 for sure, or play for Rs 40,000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Winning chance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47472">
                <a:tc>
                  <a:txBody>
                    <a:bodyPr/>
                    <a:lstStyle/>
                    <a:p>
                      <a:pPr algn="ctr" indent="0" marL="0">
                        <a:buNone/>
                      </a:pPr>
                      <a:r>
                        <a:rPr lang="en-US" sz="950" dirty="0">
                          <a:solidFill>
                            <a:srgbClr val="1C2B3A"/>
                          </a:solidFill>
                        </a:rPr>
                        <a:t>V3</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Win Rs 30,000 for sure, or play for Rs 60,000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Winning chance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47472">
                <a:tc>
                  <a:txBody>
                    <a:bodyPr/>
                    <a:lstStyle/>
                    <a:p>
                      <a:pPr algn="ctr" indent="0" marL="0">
                        <a:buNone/>
                      </a:pPr>
                      <a:r>
                        <a:rPr lang="en-US" sz="950" dirty="0">
                          <a:solidFill>
                            <a:srgbClr val="1C2B3A"/>
                          </a:solidFill>
                        </a:rPr>
                        <a:t>V4</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Lose Rs 10,000 for sure, or risk losing Rs 20,000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Chance of the bigger loss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47472">
                <a:tc>
                  <a:txBody>
                    <a:bodyPr/>
                    <a:lstStyle/>
                    <a:p>
                      <a:pPr algn="ctr" indent="0" marL="0">
                        <a:buNone/>
                      </a:pPr>
                      <a:r>
                        <a:rPr lang="en-US" sz="950" dirty="0">
                          <a:solidFill>
                            <a:srgbClr val="1C2B3A"/>
                          </a:solidFill>
                        </a:rPr>
                        <a:t>V5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Lose Rs 20,000 for sure, or risk losing Rs 40,000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Chance of the bigger loss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47472">
                <a:tc>
                  <a:txBody>
                    <a:bodyPr/>
                    <a:lstStyle/>
                    <a:p>
                      <a:pPr algn="ctr" indent="0" marL="0">
                        <a:buNone/>
                      </a:pPr>
                      <a:r>
                        <a:rPr lang="en-US" sz="950" dirty="0">
                          <a:solidFill>
                            <a:srgbClr val="1C2B3A"/>
                          </a:solidFill>
                        </a:rPr>
                        <a:t>V6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Lose Rs 30,000 for sure, or risk losing Rs 60,000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Chance of the bigger loss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bl>
          </a:graphicData>
        </a:graphic>
      </p:graphicFrame>
      <p:sp>
        <p:nvSpPr>
          <p:cNvPr id="7" name="Shape 4"/>
          <p:cNvSpPr/>
          <p:nvPr/>
        </p:nvSpPr>
        <p:spPr>
          <a:xfrm>
            <a:off x="502920" y="5042916"/>
            <a:ext cx="5815218" cy="1143000"/>
          </a:xfrm>
          <a:prstGeom prst="rect">
            <a:avLst/>
          </a:prstGeom>
          <a:solidFill>
            <a:srgbClr val="F2F5F9"/>
          </a:solidFill>
          <a:ln/>
        </p:spPr>
      </p:sp>
      <p:sp>
        <p:nvSpPr>
          <p:cNvPr id="8" name="Shape 5"/>
          <p:cNvSpPr/>
          <p:nvPr/>
        </p:nvSpPr>
        <p:spPr>
          <a:xfrm>
            <a:off x="502920" y="5042916"/>
            <a:ext cx="59436" cy="1143000"/>
          </a:xfrm>
          <a:prstGeom prst="rect">
            <a:avLst/>
          </a:prstGeom>
          <a:solidFill>
            <a:srgbClr val="00A99D"/>
          </a:solidFill>
          <a:ln/>
        </p:spPr>
      </p:sp>
      <p:sp>
        <p:nvSpPr>
          <p:cNvPr id="9" name="Text 6"/>
          <p:cNvSpPr txBox="1"/>
          <p:nvPr/>
        </p:nvSpPr>
        <p:spPr>
          <a:xfrm>
            <a:off x="740664" y="5152644"/>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609844"/>
            <a:ext cx="5358018" cy="42976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The gamble pays double or nothing, so v(X) = p times v(2X) at indifference. With v(x) = x to the power alpha the sure amount cancels and alpha is minus log base 2 of p.</a:t>
            </a:r>
            <a:endParaRPr lang="en-US" sz="950" dirty="0"/>
          </a:p>
        </p:txBody>
      </p:sp>
      <p:pic>
        <p:nvPicPr>
          <p:cNvPr id="11" name="Image 0" descr="/Users/siddharthjaiswal/Desktop/SEM_7/MBA680/Problem_statement_2/figures/c2_value.png">    </p:cNvPr>
          <p:cNvPicPr>
            <a:picLocks noChangeAspect="1"/>
          </p:cNvPicPr>
          <p:nvPr/>
        </p:nvPicPr>
        <p:blipFill>
          <a:blip r:embed="rId1"/>
          <a:stretch>
            <a:fillRect/>
          </a:stretch>
        </p:blipFill>
        <p:spPr>
          <a:xfrm>
            <a:off x="8035182" y="1824228"/>
            <a:ext cx="2269299" cy="1554480"/>
          </a:xfrm>
          <a:prstGeom prst="rect">
            <a:avLst/>
          </a:prstGeom>
        </p:spPr>
      </p:pic>
      <p:sp>
        <p:nvSpPr>
          <p:cNvPr id="12" name="Text 8"/>
          <p:cNvSpPr txBox="1"/>
          <p:nvPr/>
        </p:nvSpPr>
        <p:spPr>
          <a:xfrm>
            <a:off x="6653632" y="3525012"/>
            <a:ext cx="5032400" cy="237744"/>
          </a:xfrm>
          <a:prstGeom prst="rect">
            <a:avLst/>
          </a:prstGeom>
          <a:noFill/>
          <a:ln/>
        </p:spPr>
        <p:txBody>
          <a:bodyPr wrap="square" lIns="0" tIns="0" rIns="0" bIns="0" rtlCol="0" anchor="ctr"/>
          <a:lstStyle/>
          <a:p>
            <a:pPr indent="0" marL="0">
              <a:buNone/>
            </a:pPr>
            <a:r>
              <a:rPr lang="en-US" sz="1250" b="1" dirty="0">
                <a:solidFill>
                  <a:srgbClr val="1C2B3A"/>
                </a:solidFill>
              </a:rPr>
              <a:t>The fitted parameters</a:t>
            </a:r>
            <a:endParaRPr lang="en-US" sz="12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653632" y="3799332"/>
          <a:ext cx="5032400" cy="914400"/>
        </p:xfrm>
        <a:graphic>
          <a:graphicData uri="http://schemas.openxmlformats.org/drawingml/2006/table">
            <a:tbl>
              <a:tblPr/>
              <a:tblGrid>
                <a:gridCol w="1070723"/>
                <a:gridCol w="1177796"/>
                <a:gridCol w="1070723"/>
                <a:gridCol w="1713158"/>
              </a:tblGrid>
              <a:tr h="365760">
                <a:tc>
                  <a:txBody>
                    <a:bodyPr/>
                    <a:lstStyle/>
                    <a:p>
                      <a:pPr algn="ctr" indent="0" marL="0">
                        <a:buNone/>
                      </a:pPr>
                      <a:r>
                        <a:rPr lang="en-US" sz="950" b="1" dirty="0">
                          <a:solidFill>
                            <a:srgbClr val="FFFFFF"/>
                          </a:solidFill>
                        </a:rPr>
                        <a:t>Roll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Gain alpha</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Loss beta</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Spread across rows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0.81 and 1.10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251250047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1.28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1.93</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0.51 and 0.32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50" dirty="0">
                          <a:solidFill>
                            <a:srgbClr val="1C2B3A"/>
                          </a:solidFill>
                        </a:rPr>
                        <a:t>251250002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0.68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1.66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0.49 and 1.64</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14" name="Text 9"/>
          <p:cNvSpPr txBox="1"/>
          <p:nvPr/>
        </p:nvSpPr>
        <p:spPr>
          <a:xfrm>
            <a:off x="6653632" y="5774436"/>
            <a:ext cx="5032400" cy="411480"/>
          </a:xfrm>
          <a:prstGeom prst="rect">
            <a:avLst/>
          </a:prstGeom>
          <a:noFill/>
          <a:ln/>
        </p:spPr>
        <p:txBody>
          <a:bodyPr wrap="square" lIns="0" tIns="0" rIns="0" bIns="0" rtlCol="0" anchor="ctr"/>
          <a:lstStyle/>
          <a:p>
            <a:pPr indent="0" marL="0">
              <a:buNone/>
            </a:pPr>
            <a:r>
              <a:rPr lang="en-US" sz="950" i="1" dirty="0">
                <a:solidFill>
                  <a:srgbClr val="8898A8"/>
                </a:solidFill>
              </a:rPr>
              <a:t>All three gain rows measure the same curvature, so the spread between them is a direct read on how reliably the answer was given.</a:t>
            </a:r>
            <a:endParaRPr lang="en-US" sz="950" dirty="0"/>
          </a:p>
        </p:txBody>
      </p:sp>
      <p:sp>
        <p:nvSpPr>
          <p:cNvPr id="16"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4 OF 6, PART 3</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Score the Personality Profile</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collect a standard personality measure so the advice can speak to behaviour, not only to risk.</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4, thirty short items, one sample from each domain</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1596334"/>
                <a:gridCol w="3420717"/>
                <a:gridCol w="798167"/>
              </a:tblGrid>
              <a:tr h="365760">
                <a:tc>
                  <a:txBody>
                    <a:bodyPr/>
                    <a:lstStyle/>
                    <a:p>
                      <a:pPr algn="ctr" indent="0" marL="0">
                        <a:buNone/>
                      </a:pPr>
                      <a:r>
                        <a:rPr lang="en-US" sz="950" b="1" dirty="0">
                          <a:solidFill>
                            <a:srgbClr val="FFFFFF"/>
                          </a:solidFill>
                        </a:rPr>
                        <a:t>Domain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 sample item from the thirty</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Scale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10896">
                <a:tc>
                  <a:txBody>
                    <a:bodyPr/>
                    <a:lstStyle/>
                    <a:p>
                      <a:pPr algn="ctr" indent="0" marL="0">
                        <a:buNone/>
                      </a:pPr>
                      <a:r>
                        <a:rPr lang="en-US" sz="950" dirty="0">
                          <a:solidFill>
                            <a:srgbClr val="1C2B3A"/>
                          </a:solidFill>
                        </a:rPr>
                        <a:t>Extraversion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Is outgoing, sociable.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 to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Agreeableness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Is compassionate, has a soft heart.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 to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Conscientiousness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Is systematic, likes to keep things in order.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 to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10896">
                <a:tc>
                  <a:txBody>
                    <a:bodyPr/>
                    <a:lstStyle/>
                    <a:p>
                      <a:pPr algn="ctr" indent="0" marL="0">
                        <a:buNone/>
                      </a:pPr>
                      <a:r>
                        <a:rPr lang="en-US" sz="950" dirty="0">
                          <a:solidFill>
                            <a:srgbClr val="1C2B3A"/>
                          </a:solidFill>
                        </a:rPr>
                        <a:t>Negative emotionality</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Can be tense.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1 to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C2B3A"/>
                          </a:solidFill>
                        </a:rPr>
                        <a:t>Open-mindedness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Is curious about many different things.</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 to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bl>
          </a:graphicData>
        </a:graphic>
      </p:graphicFrame>
      <p:sp>
        <p:nvSpPr>
          <p:cNvPr id="7" name="Shape 4"/>
          <p:cNvSpPr/>
          <p:nvPr/>
        </p:nvSpPr>
        <p:spPr>
          <a:xfrm>
            <a:off x="502920" y="4165092"/>
            <a:ext cx="5815218" cy="1463040"/>
          </a:xfrm>
          <a:prstGeom prst="rect">
            <a:avLst/>
          </a:prstGeom>
          <a:solidFill>
            <a:srgbClr val="F2F5F9"/>
          </a:solidFill>
          <a:ln/>
        </p:spPr>
      </p:sp>
      <p:sp>
        <p:nvSpPr>
          <p:cNvPr id="8" name="Shape 5"/>
          <p:cNvSpPr/>
          <p:nvPr/>
        </p:nvSpPr>
        <p:spPr>
          <a:xfrm>
            <a:off x="502920" y="4165092"/>
            <a:ext cx="59436" cy="1463040"/>
          </a:xfrm>
          <a:prstGeom prst="rect">
            <a:avLst/>
          </a:prstGeom>
          <a:solidFill>
            <a:srgbClr val="00A99D"/>
          </a:solidFill>
          <a:ln/>
        </p:spPr>
      </p:sp>
      <p:sp>
        <p:nvSpPr>
          <p:cNvPr id="9" name="Text 6"/>
          <p:cNvSpPr txBox="1"/>
          <p:nvPr/>
        </p:nvSpPr>
        <p:spPr>
          <a:xfrm>
            <a:off x="740664" y="4274820"/>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4732020"/>
            <a:ext cx="5358018" cy="74980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Thirty items from the BFI-2, two per facet, chosen so all fifteen facets are covered within the thirty question cap. Reverse keyed items were flipped, facets averaged, domains averaged from their facets, then placed against the published norming means.</a:t>
            </a:r>
            <a:endParaRPr lang="en-US" sz="950" dirty="0"/>
          </a:p>
        </p:txBody>
      </p:sp>
      <p:sp>
        <p:nvSpPr>
          <p:cNvPr id="11" name="Text 8"/>
          <p:cNvSpPr txBox="1"/>
          <p:nvPr/>
        </p:nvSpPr>
        <p:spPr>
          <a:xfrm>
            <a:off x="502920" y="5774436"/>
            <a:ext cx="5815218" cy="274320"/>
          </a:xfrm>
          <a:prstGeom prst="rect">
            <a:avLst/>
          </a:prstGeom>
          <a:noFill/>
          <a:ln/>
        </p:spPr>
        <p:txBody>
          <a:bodyPr wrap="square" lIns="0" tIns="0" rIns="0" bIns="0" rtlCol="0" anchor="ctr"/>
          <a:lstStyle/>
          <a:p>
            <a:pPr indent="0" marL="0">
              <a:buNone/>
            </a:pPr>
            <a:r>
              <a:rPr lang="en-US" sz="950" i="1" dirty="0">
                <a:solidFill>
                  <a:srgbClr val="8898A8"/>
                </a:solidFill>
              </a:rPr>
              <a:t>1 means not like me at all and 5 means very much like me.</a:t>
            </a:r>
            <a:endParaRPr lang="en-US" sz="950" dirty="0"/>
          </a:p>
        </p:txBody>
      </p:sp>
      <p:pic>
        <p:nvPicPr>
          <p:cNvPr id="12" name="Image 0" descr="/Users/siddharthjaiswal/Desktop/SEM_7/MBA680/Problem_statement_2/figures/c5_personality.png">    </p:cNvPr>
          <p:cNvPicPr>
            <a:picLocks noChangeAspect="1"/>
          </p:cNvPicPr>
          <p:nvPr/>
        </p:nvPicPr>
        <p:blipFill>
          <a:blip r:embed="rId1"/>
          <a:stretch>
            <a:fillRect/>
          </a:stretch>
        </p:blipFill>
        <p:spPr>
          <a:xfrm>
            <a:off x="7417754" y="1824228"/>
            <a:ext cx="3504155" cy="1965960"/>
          </a:xfrm>
          <a:prstGeom prst="rect">
            <a:avLst/>
          </a:prstGeom>
        </p:spPr>
      </p:pic>
      <p:sp>
        <p:nvSpPr>
          <p:cNvPr id="13" name="Shape 9"/>
          <p:cNvSpPr/>
          <p:nvPr/>
        </p:nvSpPr>
        <p:spPr>
          <a:xfrm>
            <a:off x="6653632" y="3936492"/>
            <a:ext cx="5032400" cy="1143000"/>
          </a:xfrm>
          <a:prstGeom prst="rect">
            <a:avLst/>
          </a:prstGeom>
          <a:solidFill>
            <a:srgbClr val="F2F5F9"/>
          </a:solidFill>
          <a:ln/>
        </p:spPr>
      </p:sp>
      <p:sp>
        <p:nvSpPr>
          <p:cNvPr id="14" name="Shape 10"/>
          <p:cNvSpPr/>
          <p:nvPr/>
        </p:nvSpPr>
        <p:spPr>
          <a:xfrm>
            <a:off x="6653632" y="3936492"/>
            <a:ext cx="59436" cy="1143000"/>
          </a:xfrm>
          <a:prstGeom prst="rect">
            <a:avLst/>
          </a:prstGeom>
          <a:solidFill>
            <a:srgbClr val="F0922B"/>
          </a:solidFill>
          <a:ln/>
        </p:spPr>
      </p:sp>
      <p:sp>
        <p:nvSpPr>
          <p:cNvPr id="15" name="Text 11"/>
          <p:cNvSpPr txBox="1"/>
          <p:nvPr/>
        </p:nvSpPr>
        <p:spPr>
          <a:xfrm>
            <a:off x="6891376" y="4046220"/>
            <a:ext cx="4575200" cy="457200"/>
          </a:xfrm>
          <a:prstGeom prst="rect">
            <a:avLst/>
          </a:prstGeom>
          <a:noFill/>
          <a:ln/>
        </p:spPr>
        <p:txBody>
          <a:bodyPr wrap="square" lIns="0" tIns="0" rIns="0" bIns="0" rtlCol="0" anchor="t"/>
          <a:lstStyle/>
          <a:p>
            <a:pPr indent="0" marL="0">
              <a:buNone/>
            </a:pPr>
            <a:r>
              <a:rPr lang="en-US" sz="1200" b="1" dirty="0">
                <a:solidFill>
                  <a:srgbClr val="1C2B3A"/>
                </a:solidFill>
              </a:rPr>
              <a:t>How the step was completed</a:t>
            </a:r>
            <a:endParaRPr lang="en-US" sz="1200" dirty="0"/>
          </a:p>
        </p:txBody>
      </p:sp>
      <p:sp>
        <p:nvSpPr>
          <p:cNvPr id="16" name="Text 12"/>
          <p:cNvSpPr txBox="1"/>
          <p:nvPr/>
        </p:nvSpPr>
        <p:spPr>
          <a:xfrm>
            <a:off x="6891376" y="4503420"/>
            <a:ext cx="4575200" cy="42976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All four answered all thirty items, so every domain and facet score is complete.</a:t>
            </a:r>
            <a:endParaRPr lang="en-US" sz="950" dirty="0"/>
          </a:p>
        </p:txBody>
      </p:sp>
      <p:sp>
        <p:nvSpPr>
          <p:cNvPr id="17" name="Shape 13"/>
          <p:cNvSpPr/>
          <p:nvPr/>
        </p:nvSpPr>
        <p:spPr>
          <a:xfrm>
            <a:off x="6653632" y="5225796"/>
            <a:ext cx="5032400" cy="960120"/>
          </a:xfrm>
          <a:prstGeom prst="rect">
            <a:avLst/>
          </a:prstGeom>
          <a:solidFill>
            <a:srgbClr val="F2F5F9"/>
          </a:solidFill>
          <a:ln/>
        </p:spPr>
      </p:sp>
      <p:sp>
        <p:nvSpPr>
          <p:cNvPr id="18" name="Shape 14"/>
          <p:cNvSpPr/>
          <p:nvPr/>
        </p:nvSpPr>
        <p:spPr>
          <a:xfrm>
            <a:off x="6653632" y="5225796"/>
            <a:ext cx="59436" cy="960120"/>
          </a:xfrm>
          <a:prstGeom prst="rect">
            <a:avLst/>
          </a:prstGeom>
          <a:solidFill>
            <a:srgbClr val="2E9E5B"/>
          </a:solidFill>
          <a:ln/>
        </p:spPr>
      </p:sp>
      <p:sp>
        <p:nvSpPr>
          <p:cNvPr id="19" name="Text 15"/>
          <p:cNvSpPr txBox="1"/>
          <p:nvPr/>
        </p:nvSpPr>
        <p:spPr>
          <a:xfrm>
            <a:off x="6891376" y="5335524"/>
            <a:ext cx="4575200" cy="457200"/>
          </a:xfrm>
          <a:prstGeom prst="rect">
            <a:avLst/>
          </a:prstGeom>
          <a:noFill/>
          <a:ln/>
        </p:spPr>
        <p:txBody>
          <a:bodyPr wrap="square" lIns="0" tIns="0" rIns="0" bIns="0" rtlCol="0" anchor="t"/>
          <a:lstStyle/>
          <a:p>
            <a:pPr indent="0" marL="0">
              <a:buNone/>
            </a:pPr>
            <a:r>
              <a:rPr lang="en-US" sz="1200" b="1" dirty="0">
                <a:solidFill>
                  <a:srgbClr val="1C2B3A"/>
                </a:solidFill>
              </a:rPr>
              <a:t>Output of this step</a:t>
            </a:r>
            <a:endParaRPr lang="en-US" sz="1200" dirty="0"/>
          </a:p>
        </p:txBody>
      </p:sp>
      <p:sp>
        <p:nvSpPr>
          <p:cNvPr id="20" name="Text 16"/>
          <p:cNvSpPr txBox="1"/>
          <p:nvPr/>
        </p:nvSpPr>
        <p:spPr>
          <a:xfrm>
            <a:off x="6891376" y="5792724"/>
            <a:ext cx="4575200"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Five domain scores and fifteen facet scores per person.</a:t>
            </a:r>
            <a:endParaRPr lang="en-US" sz="950" dirty="0"/>
          </a:p>
        </p:txBody>
      </p:sp>
      <p:sp>
        <p:nvSpPr>
          <p:cNvPr id="22"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5 OF 6</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Build the Mean-Variance Portfolio</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combine the measured risk aversion with the Problem Statement 1 portfolio and set the equity weight.</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The inputs, all carried forward rather than asked again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1679952"/>
                <a:gridCol w="2196860"/>
                <a:gridCol w="1938406"/>
              </a:tblGrid>
              <a:tr h="365760">
                <a:tc>
                  <a:txBody>
                    <a:bodyPr/>
                    <a:lstStyle/>
                    <a:p>
                      <a:pPr algn="ctr" indent="0" marL="0">
                        <a:buNone/>
                      </a:pPr>
                      <a:r>
                        <a:rPr lang="en-US" sz="950" b="1" dirty="0">
                          <a:solidFill>
                            <a:srgbClr val="FFFFFF"/>
                          </a:solidFill>
                        </a:rPr>
                        <a:t>Input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Value used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Where it came from</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50" dirty="0">
                          <a:solidFill>
                            <a:srgbClr val="1C2B3A"/>
                          </a:solidFill>
                        </a:rPr>
                        <a:t>Risky portfolio</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24.9% return, 18.0% risk</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Problem Statement 1</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Risk-free rate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6.5%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Treasury bill yield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50" dirty="0">
                          <a:solidFill>
                            <a:srgbClr val="1C2B3A"/>
                          </a:solidFill>
                        </a:rPr>
                        <a:t>Risk aversion A</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0.66 and 1.18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The Step 4 utility curve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Borrowing</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Capped at zero</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Student investor constraint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073652"/>
            <a:ext cx="5815218" cy="1371600"/>
          </a:xfrm>
          <a:prstGeom prst="rect">
            <a:avLst/>
          </a:prstGeom>
          <a:solidFill>
            <a:srgbClr val="F2F5F9"/>
          </a:solidFill>
          <a:ln/>
        </p:spPr>
      </p:sp>
      <p:sp>
        <p:nvSpPr>
          <p:cNvPr id="8" name="Shape 5"/>
          <p:cNvSpPr/>
          <p:nvPr/>
        </p:nvSpPr>
        <p:spPr>
          <a:xfrm>
            <a:off x="502920" y="4073652"/>
            <a:ext cx="59436" cy="1371600"/>
          </a:xfrm>
          <a:prstGeom prst="rect">
            <a:avLst/>
          </a:prstGeom>
          <a:solidFill>
            <a:srgbClr val="00A99D"/>
          </a:solidFill>
          <a:ln/>
        </p:spPr>
      </p:sp>
      <p:sp>
        <p:nvSpPr>
          <p:cNvPr id="9" name="Text 6"/>
          <p:cNvSpPr txBox="1"/>
          <p:nvPr/>
        </p:nvSpPr>
        <p:spPr>
          <a:xfrm>
            <a:off x="740664" y="4183380"/>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4640580"/>
            <a:ext cx="5358018" cy="65836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Maximise U = E(r) minus half A sigma squared along the capital allocation line. The optimum is y* = [E(rP) minus rf] divided by A times sigmaP squared, capped at one because borrowing is not available.</a:t>
            </a:r>
            <a:endParaRPr lang="en-US" sz="950" dirty="0"/>
          </a:p>
        </p:txBody>
      </p:sp>
      <p:sp>
        <p:nvSpPr>
          <p:cNvPr id="11" name="Text 8"/>
          <p:cNvSpPr txBox="1"/>
          <p:nvPr/>
        </p:nvSpPr>
        <p:spPr>
          <a:xfrm>
            <a:off x="502920" y="5591556"/>
            <a:ext cx="5815218" cy="411480"/>
          </a:xfrm>
          <a:prstGeom prst="rect">
            <a:avLst/>
          </a:prstGeom>
          <a:noFill/>
          <a:ln/>
        </p:spPr>
        <p:txBody>
          <a:bodyPr wrap="square" lIns="0" tIns="0" rIns="0" bIns="0" rtlCol="0" anchor="ctr"/>
          <a:lstStyle/>
          <a:p>
            <a:pPr indent="0" marL="0">
              <a:buNone/>
            </a:pPr>
            <a:r>
              <a:rPr lang="en-US" sz="950" i="1" dirty="0">
                <a:solidFill>
                  <a:srgbClr val="8898A8"/>
                </a:solidFill>
              </a:rPr>
              <a:t>Three return scenarios are carried through, because the expected return is the least certain input in the whole exercise.</a:t>
            </a:r>
            <a:endParaRPr lang="en-US" sz="950" dirty="0"/>
          </a:p>
        </p:txBody>
      </p:sp>
      <p:sp>
        <p:nvSpPr>
          <p:cNvPr id="12" name="Text 9"/>
          <p:cNvSpPr txBox="1"/>
          <p:nvPr/>
        </p:nvSpPr>
        <p:spPr>
          <a:xfrm>
            <a:off x="6653632" y="1824228"/>
            <a:ext cx="5032400" cy="237744"/>
          </a:xfrm>
          <a:prstGeom prst="rect">
            <a:avLst/>
          </a:prstGeom>
          <a:noFill/>
          <a:ln/>
        </p:spPr>
        <p:txBody>
          <a:bodyPr wrap="square" lIns="0" tIns="0" rIns="0" bIns="0" rtlCol="0" anchor="ctr"/>
          <a:lstStyle/>
          <a:p>
            <a:pPr indent="0" marL="0">
              <a:buNone/>
            </a:pPr>
            <a:r>
              <a:rPr lang="en-US" sz="1250" b="1" dirty="0">
                <a:solidFill>
                  <a:srgbClr val="1C2B3A"/>
                </a:solidFill>
              </a:rPr>
              <a:t>The recommendation, base case inputs</a:t>
            </a:r>
            <a:endParaRPr lang="en-US" sz="12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653632" y="2098548"/>
          <a:ext cx="5032400" cy="914400"/>
        </p:xfrm>
        <a:graphic>
          <a:graphicData uri="http://schemas.openxmlformats.org/drawingml/2006/table">
            <a:tbl>
              <a:tblPr/>
              <a:tblGrid>
                <a:gridCol w="1006480"/>
                <a:gridCol w="457491"/>
                <a:gridCol w="1097978"/>
                <a:gridCol w="1097978"/>
                <a:gridCol w="731986"/>
                <a:gridCol w="640487"/>
              </a:tblGrid>
              <a:tr h="365760">
                <a:tc>
                  <a:txBody>
                    <a:bodyPr/>
                    <a:lstStyle/>
                    <a:p>
                      <a:pPr algn="ctr" indent="0" marL="0">
                        <a:buNone/>
                      </a:pPr>
                      <a:r>
                        <a:rPr lang="en-US" sz="950" b="1" dirty="0">
                          <a:solidFill>
                            <a:srgbClr val="FFFFFF"/>
                          </a:solidFill>
                        </a:rPr>
                        <a:t>Roll</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y* uncapped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Advised equity</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Return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Risk</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0.66</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4.11x</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15.2%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18.0%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251250047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50" dirty="0">
                          <a:solidFill>
                            <a:srgbClr val="1C2B3A"/>
                          </a:solidFill>
                        </a:rPr>
                        <a:t>251250002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1.18</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2.29x</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100%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15.2%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18.0%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50" dirty="0">
                          <a:solidFill>
                            <a:srgbClr val="1C2B3A"/>
                          </a:solidFill>
                        </a:rPr>
                        <a:t>251250030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To come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bl>
          </a:graphicData>
        </a:graphic>
      </p:graphicFrame>
      <p:pic>
        <p:nvPicPr>
          <p:cNvPr id="14" name="Image 0" descr="/Users/siddharthjaiswal/Desktop/SEM_7/MBA680/Problem_statement_2/figures/c7_scenarios.png">    </p:cNvPr>
          <p:cNvPicPr>
            <a:picLocks noChangeAspect="1"/>
          </p:cNvPicPr>
          <p:nvPr/>
        </p:nvPicPr>
        <p:blipFill>
          <a:blip r:embed="rId1"/>
          <a:stretch>
            <a:fillRect/>
          </a:stretch>
        </p:blipFill>
        <p:spPr>
          <a:xfrm>
            <a:off x="7689894" y="4073652"/>
            <a:ext cx="2959876" cy="1371600"/>
          </a:xfrm>
          <a:prstGeom prst="rect">
            <a:avLst/>
          </a:prstGeom>
        </p:spPr>
      </p:pic>
      <p:sp>
        <p:nvSpPr>
          <p:cNvPr id="15" name="Text 10"/>
          <p:cNvSpPr txBox="1"/>
          <p:nvPr/>
        </p:nvSpPr>
        <p:spPr>
          <a:xfrm>
            <a:off x="6653632" y="5591556"/>
            <a:ext cx="5032400" cy="548640"/>
          </a:xfrm>
          <a:prstGeom prst="rect">
            <a:avLst/>
          </a:prstGeom>
          <a:noFill/>
          <a:ln/>
        </p:spPr>
        <p:txBody>
          <a:bodyPr wrap="square" lIns="0" tIns="0" rIns="0" bIns="0" rtlCol="0" anchor="ctr"/>
          <a:lstStyle/>
          <a:p>
            <a:pPr indent="0" marL="0">
              <a:buNone/>
            </a:pPr>
            <a:r>
              <a:rPr lang="en-US" sz="950" i="1" dirty="0">
                <a:solidFill>
                  <a:srgbClr val="8898A8"/>
                </a:solidFill>
              </a:rPr>
              <a:t>Both respondents with a fitted curve want more than their whole corpus in the risky portfolio, so the cap sets the answer: hold 100%, which is Rs 90,000 and Rs 10 lakh.</a:t>
            </a:r>
            <a:endParaRPr lang="en-US" sz="950" dirty="0"/>
          </a:p>
        </p:txBody>
      </p:sp>
      <p:sp>
        <p:nvSpPr>
          <p:cNvPr id="17"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5 OF 6, EXTENDED</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Build the Behavioral Portfolio</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go past mean-variance and size the layered portfolio that behavioral portfolio theory describes.</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Section 7, the questions we added to the class form</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456096"/>
                <a:gridCol w="3876812"/>
                <a:gridCol w="1482311"/>
              </a:tblGrid>
              <a:tr h="365760">
                <a:tc>
                  <a:txBody>
                    <a:bodyPr/>
                    <a:lstStyle/>
                    <a:p>
                      <a:pPr algn="ctr" indent="0" marL="0">
                        <a:buNone/>
                      </a:pPr>
                      <a:r>
                        <a:rPr lang="en-US" sz="900" b="1" dirty="0">
                          <a:solidFill>
                            <a:srgbClr val="FFFFFF"/>
                          </a:solidFill>
                        </a:rPr>
                        <a:t>Item</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Question added to the form</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What it measures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365760">
                <a:tc>
                  <a:txBody>
                    <a:bodyPr/>
                    <a:lstStyle/>
                    <a:p>
                      <a:pPr algn="ctr" indent="0" marL="0">
                        <a:buNone/>
                      </a:pPr>
                      <a:r>
                        <a:rPr lang="en-US" sz="900" dirty="0">
                          <a:solidFill>
                            <a:srgbClr val="1C2B3A"/>
                          </a:solidFill>
                        </a:rPr>
                        <a:t>E1</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A coin flip. Tails you lose Rs 10,000, heads you win G. How big must G be?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Loss aversion, lambda</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00" dirty="0">
                          <a:solidFill>
                            <a:srgbClr val="1C2B3A"/>
                          </a:solidFill>
                        </a:rPr>
                        <a:t>E2</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A 10 in 100 chance of Rs 10,000. What sure amount feels as good? Same at 90 in 100.</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Probability weighting</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00" dirty="0">
                          <a:solidFill>
                            <a:srgbClr val="1C2B3A"/>
                          </a:solidFill>
                        </a:rPr>
                        <a:t>E3</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What is the smallest amount you must still have at the end?</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The safety floor</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00" dirty="0">
                          <a:solidFill>
                            <a:srgbClr val="1C2B3A"/>
                          </a:solidFill>
                        </a:rPr>
                        <a:t>E4</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How often could you live with falling below that amount?</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Shortfall tolerance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00" dirty="0">
                          <a:solidFill>
                            <a:srgbClr val="1C2B3A"/>
                          </a:solidFill>
                        </a:rPr>
                        <a:t>E5</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What amount at the end would you call a success?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The aspiration level</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365760">
                <a:tc>
                  <a:txBody>
                    <a:bodyPr/>
                    <a:lstStyle/>
                    <a:p>
                      <a:pPr algn="ctr" indent="0" marL="0">
                        <a:buNone/>
                      </a:pPr>
                      <a:r>
                        <a:rPr lang="en-US" sz="900" dirty="0">
                          <a:solidFill>
                            <a:srgbClr val="1C2B3A"/>
                          </a:solidFill>
                        </a:rPr>
                        <a:t>E6</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Split 100 points between staying safe and a real shot at the big number.</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Security and potential split</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365760">
                <a:tc>
                  <a:txBody>
                    <a:bodyPr/>
                    <a:lstStyle/>
                    <a:p>
                      <a:pPr algn="ctr" indent="0" marL="0">
                        <a:buNone/>
                      </a:pPr>
                      <a:r>
                        <a:rPr lang="en-US" sz="900" dirty="0">
                          <a:solidFill>
                            <a:srgbClr val="1C2B3A"/>
                          </a:solidFill>
                        </a:rPr>
                        <a:t>E7</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What would you give up to raise your chance of success by 10 points?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Weight on the aspiration</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bl>
          </a:graphicData>
        </a:graphic>
      </p:graphicFrame>
      <p:sp>
        <p:nvSpPr>
          <p:cNvPr id="7" name="Shape 4"/>
          <p:cNvSpPr/>
          <p:nvPr/>
        </p:nvSpPr>
        <p:spPr>
          <a:xfrm>
            <a:off x="502920" y="5170932"/>
            <a:ext cx="5815218" cy="1005840"/>
          </a:xfrm>
          <a:prstGeom prst="rect">
            <a:avLst/>
          </a:prstGeom>
          <a:solidFill>
            <a:srgbClr val="F2F5F9"/>
          </a:solidFill>
          <a:ln/>
        </p:spPr>
      </p:sp>
      <p:sp>
        <p:nvSpPr>
          <p:cNvPr id="8" name="Shape 5"/>
          <p:cNvSpPr/>
          <p:nvPr/>
        </p:nvSpPr>
        <p:spPr>
          <a:xfrm>
            <a:off x="502920" y="5170932"/>
            <a:ext cx="59436" cy="1005840"/>
          </a:xfrm>
          <a:prstGeom prst="rect">
            <a:avLst/>
          </a:prstGeom>
          <a:solidFill>
            <a:srgbClr val="00A99D"/>
          </a:solidFill>
          <a:ln/>
        </p:spPr>
      </p:sp>
      <p:sp>
        <p:nvSpPr>
          <p:cNvPr id="9" name="Text 6"/>
          <p:cNvSpPr txBox="1"/>
          <p:nvPr/>
        </p:nvSpPr>
        <p:spPr>
          <a:xfrm>
            <a:off x="740664" y="5280660"/>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737860"/>
            <a:ext cx="5358018" cy="29260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Each layer needs one number the class form does not collect, so we wrote the seven shortest questions that supply them. They take about a minute to answer.</a:t>
            </a:r>
            <a:endParaRPr lang="en-US" sz="950" dirty="0"/>
          </a:p>
        </p:txBody>
      </p:sp>
      <p:sp>
        <p:nvSpPr>
          <p:cNvPr id="11" name="Shape 8"/>
          <p:cNvSpPr/>
          <p:nvPr/>
        </p:nvSpPr>
        <p:spPr>
          <a:xfrm>
            <a:off x="6653632" y="1824228"/>
            <a:ext cx="5032400" cy="1371600"/>
          </a:xfrm>
          <a:prstGeom prst="rect">
            <a:avLst/>
          </a:prstGeom>
          <a:solidFill>
            <a:srgbClr val="F2F5F9"/>
          </a:solidFill>
          <a:ln/>
        </p:spPr>
      </p:sp>
      <p:sp>
        <p:nvSpPr>
          <p:cNvPr id="12" name="Shape 9"/>
          <p:cNvSpPr/>
          <p:nvPr/>
        </p:nvSpPr>
        <p:spPr>
          <a:xfrm>
            <a:off x="6653632" y="1824228"/>
            <a:ext cx="59436" cy="1371600"/>
          </a:xfrm>
          <a:prstGeom prst="rect">
            <a:avLst/>
          </a:prstGeom>
          <a:solidFill>
            <a:srgbClr val="F0922B"/>
          </a:solidFill>
          <a:ln/>
        </p:spPr>
      </p:sp>
      <p:sp>
        <p:nvSpPr>
          <p:cNvPr id="13" name="Text 10"/>
          <p:cNvSpPr txBox="1"/>
          <p:nvPr/>
        </p:nvSpPr>
        <p:spPr>
          <a:xfrm>
            <a:off x="6891376" y="1933956"/>
            <a:ext cx="4575200" cy="457200"/>
          </a:xfrm>
          <a:prstGeom prst="rect">
            <a:avLst/>
          </a:prstGeom>
          <a:noFill/>
          <a:ln/>
        </p:spPr>
        <p:txBody>
          <a:bodyPr wrap="square" lIns="0" tIns="0" rIns="0" bIns="0" rtlCol="0" anchor="t"/>
          <a:lstStyle/>
          <a:p>
            <a:pPr indent="0" marL="0">
              <a:buNone/>
            </a:pPr>
            <a:r>
              <a:rPr lang="en-US" sz="1250" b="1" dirty="0">
                <a:solidFill>
                  <a:srgbClr val="1C2B3A"/>
                </a:solidFill>
              </a:rPr>
              <a:t>What the layered portfolio needs</a:t>
            </a:r>
            <a:endParaRPr lang="en-US" sz="1250" dirty="0"/>
          </a:p>
        </p:txBody>
      </p:sp>
      <p:sp>
        <p:nvSpPr>
          <p:cNvPr id="14" name="Text 11"/>
          <p:cNvSpPr txBox="1"/>
          <p:nvPr/>
        </p:nvSpPr>
        <p:spPr>
          <a:xfrm>
            <a:off x="6891376" y="2391156"/>
            <a:ext cx="4575200" cy="658368"/>
          </a:xfrm>
          <a:prstGeom prst="rect">
            <a:avLst/>
          </a:prstGeom>
          <a:noFill/>
          <a:ln/>
        </p:spPr>
        <p:txBody>
          <a:bodyPr wrap="square" lIns="0" tIns="0" rIns="0" bIns="0" rtlCol="0" anchor="t"/>
          <a:lstStyle/>
          <a:p>
            <a:pPr indent="0" marL="0">
              <a:lnSpc>
                <a:spcPct val="120000"/>
              </a:lnSpc>
              <a:buNone/>
            </a:pPr>
            <a:r>
              <a:rPr lang="en-US" sz="1000" dirty="0">
                <a:solidFill>
                  <a:srgbClr val="4A5B6E"/>
                </a:solidFill>
              </a:rPr>
              <a:t>A floor in rupees, a tolerance for breaching it, an aspiration level, and loss aversion. Together they split the corpus into a safety sleeve and a potential sleeve, each priced off the same frontier.</a:t>
            </a:r>
            <a:endParaRPr lang="en-US" sz="1000" dirty="0"/>
          </a:p>
        </p:txBody>
      </p:sp>
      <p:sp>
        <p:nvSpPr>
          <p:cNvPr id="15" name="Shape 12"/>
          <p:cNvSpPr/>
          <p:nvPr/>
        </p:nvSpPr>
        <p:spPr>
          <a:xfrm>
            <a:off x="6653632" y="3342132"/>
            <a:ext cx="5032400" cy="1371600"/>
          </a:xfrm>
          <a:prstGeom prst="rect">
            <a:avLst/>
          </a:prstGeom>
          <a:solidFill>
            <a:srgbClr val="F2F5F9"/>
          </a:solidFill>
          <a:ln/>
        </p:spPr>
      </p:sp>
      <p:sp>
        <p:nvSpPr>
          <p:cNvPr id="16" name="Shape 13"/>
          <p:cNvSpPr/>
          <p:nvPr/>
        </p:nvSpPr>
        <p:spPr>
          <a:xfrm>
            <a:off x="6653632" y="3342132"/>
            <a:ext cx="59436" cy="1371600"/>
          </a:xfrm>
          <a:prstGeom prst="rect">
            <a:avLst/>
          </a:prstGeom>
          <a:solidFill>
            <a:srgbClr val="2E9E5B"/>
          </a:solidFill>
          <a:ln/>
        </p:spPr>
      </p:sp>
      <p:sp>
        <p:nvSpPr>
          <p:cNvPr id="17" name="Text 14"/>
          <p:cNvSpPr txBox="1"/>
          <p:nvPr/>
        </p:nvSpPr>
        <p:spPr>
          <a:xfrm>
            <a:off x="6891376" y="3451860"/>
            <a:ext cx="4575200" cy="457200"/>
          </a:xfrm>
          <a:prstGeom prst="rect">
            <a:avLst/>
          </a:prstGeom>
          <a:noFill/>
          <a:ln/>
        </p:spPr>
        <p:txBody>
          <a:bodyPr wrap="square" lIns="0" tIns="0" rIns="0" bIns="0" rtlCol="0" anchor="t"/>
          <a:lstStyle/>
          <a:p>
            <a:pPr indent="0" marL="0">
              <a:buNone/>
            </a:pPr>
            <a:r>
              <a:rPr lang="en-US" sz="1250" b="1" dirty="0">
                <a:solidFill>
                  <a:srgbClr val="1C2B3A"/>
                </a:solidFill>
              </a:rPr>
              <a:t>How it was completed</a:t>
            </a:r>
            <a:endParaRPr lang="en-US" sz="1250" dirty="0"/>
          </a:p>
        </p:txBody>
      </p:sp>
      <p:sp>
        <p:nvSpPr>
          <p:cNvPr id="18" name="Text 15"/>
          <p:cNvSpPr txBox="1"/>
          <p:nvPr/>
        </p:nvSpPr>
        <p:spPr>
          <a:xfrm>
            <a:off x="6891376" y="3909060"/>
            <a:ext cx="4575200" cy="658368"/>
          </a:xfrm>
          <a:prstGeom prst="rect">
            <a:avLst/>
          </a:prstGeom>
          <a:noFill/>
          <a:ln/>
        </p:spPr>
        <p:txBody>
          <a:bodyPr wrap="square" lIns="0" tIns="0" rIns="0" bIns="0" rtlCol="0" anchor="t"/>
          <a:lstStyle/>
          <a:p>
            <a:pPr indent="0" marL="0">
              <a:lnSpc>
                <a:spcPct val="120000"/>
              </a:lnSpc>
              <a:buNone/>
            </a:pPr>
            <a:r>
              <a:rPr lang="en-US" sz="1000" dirty="0">
                <a:solidFill>
                  <a:srgbClr val="4A5B6E"/>
                </a:solidFill>
              </a:rPr>
              <a:t>The engine, the estimators and the layer solver are built and tested, and all seven questions are live in the portal. The code path runs end to end on worked inputs.</a:t>
            </a:r>
            <a:endParaRPr lang="en-US" sz="1000" dirty="0"/>
          </a:p>
        </p:txBody>
      </p:sp>
      <p:sp>
        <p:nvSpPr>
          <p:cNvPr id="19" name="Shape 16"/>
          <p:cNvSpPr/>
          <p:nvPr/>
        </p:nvSpPr>
        <p:spPr>
          <a:xfrm>
            <a:off x="6653632" y="4860036"/>
            <a:ext cx="5032400" cy="1188720"/>
          </a:xfrm>
          <a:prstGeom prst="rect">
            <a:avLst/>
          </a:prstGeom>
          <a:solidFill>
            <a:srgbClr val="F2F5F9"/>
          </a:solidFill>
          <a:ln/>
        </p:spPr>
      </p:sp>
      <p:sp>
        <p:nvSpPr>
          <p:cNvPr id="20" name="Shape 17"/>
          <p:cNvSpPr/>
          <p:nvPr/>
        </p:nvSpPr>
        <p:spPr>
          <a:xfrm>
            <a:off x="6653632" y="4860036"/>
            <a:ext cx="59436" cy="1188720"/>
          </a:xfrm>
          <a:prstGeom prst="rect">
            <a:avLst/>
          </a:prstGeom>
          <a:solidFill>
            <a:srgbClr val="7B61D9"/>
          </a:solidFill>
          <a:ln/>
        </p:spPr>
      </p:sp>
      <p:sp>
        <p:nvSpPr>
          <p:cNvPr id="21" name="Text 18"/>
          <p:cNvSpPr txBox="1"/>
          <p:nvPr/>
        </p:nvSpPr>
        <p:spPr>
          <a:xfrm>
            <a:off x="6891376" y="4969764"/>
            <a:ext cx="4575200" cy="457200"/>
          </a:xfrm>
          <a:prstGeom prst="rect">
            <a:avLst/>
          </a:prstGeom>
          <a:noFill/>
          <a:ln/>
        </p:spPr>
        <p:txBody>
          <a:bodyPr wrap="square" lIns="0" tIns="0" rIns="0" bIns="0" rtlCol="0" anchor="t"/>
          <a:lstStyle/>
          <a:p>
            <a:pPr indent="0" marL="0">
              <a:buNone/>
            </a:pPr>
            <a:r>
              <a:rPr lang="en-US" sz="1250" b="1" dirty="0">
                <a:solidFill>
                  <a:srgbClr val="1C2B3A"/>
                </a:solidFill>
              </a:rPr>
              <a:t>The next pass</a:t>
            </a:r>
            <a:endParaRPr lang="en-US" sz="1250" dirty="0"/>
          </a:p>
        </p:txBody>
      </p:sp>
      <p:sp>
        <p:nvSpPr>
          <p:cNvPr id="22" name="Text 19"/>
          <p:cNvSpPr txBox="1"/>
          <p:nvPr/>
        </p:nvSpPr>
        <p:spPr>
          <a:xfrm>
            <a:off x="6891376" y="5426964"/>
            <a:ext cx="4575200" cy="475488"/>
          </a:xfrm>
          <a:prstGeom prst="rect">
            <a:avLst/>
          </a:prstGeom>
          <a:noFill/>
          <a:ln/>
        </p:spPr>
        <p:txBody>
          <a:bodyPr wrap="square" lIns="0" tIns="0" rIns="0" bIns="0" rtlCol="0" anchor="t"/>
          <a:lstStyle/>
          <a:p>
            <a:pPr indent="0" marL="0">
              <a:lnSpc>
                <a:spcPct val="120000"/>
              </a:lnSpc>
              <a:buNone/>
            </a:pPr>
            <a:r>
              <a:rPr lang="en-US" sz="1000" dirty="0">
                <a:solidFill>
                  <a:srgbClr val="4A5B6E"/>
                </a:solidFill>
              </a:rPr>
              <a:t>The four respondents answer the seven added questions, and the same run then prints a sized behavioral portfolio beside the mean-variance one.</a:t>
            </a:r>
            <a:endParaRPr lang="en-US" sz="1000" dirty="0"/>
          </a:p>
        </p:txBody>
      </p:sp>
      <p:sp>
        <p:nvSpPr>
          <p:cNvPr id="24"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STEP 6 OF 6</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Turn the Numbers Into Advice</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Requirement: write the commentary and the behavioral guidance that goes back to each respondent.</a:t>
            </a:r>
            <a:endParaRPr lang="en-US" sz="1100" dirty="0"/>
          </a:p>
        </p:txBody>
      </p:sp>
      <p:sp>
        <p:nvSpPr>
          <p:cNvPr id="5" name="Text 3"/>
          <p:cNvSpPr txBox="1"/>
          <p:nvPr/>
        </p:nvSpPr>
        <p:spPr>
          <a:xfrm>
            <a:off x="502920" y="1824228"/>
            <a:ext cx="5815218" cy="237744"/>
          </a:xfrm>
          <a:prstGeom prst="rect">
            <a:avLst/>
          </a:prstGeom>
          <a:noFill/>
          <a:ln/>
        </p:spPr>
        <p:txBody>
          <a:bodyPr wrap="square" lIns="0" tIns="0" rIns="0" bIns="0" rtlCol="0" anchor="ctr"/>
          <a:lstStyle/>
          <a:p>
            <a:pPr indent="0" marL="0">
              <a:buNone/>
            </a:pPr>
            <a:r>
              <a:rPr lang="en-US" sz="1250" b="1" dirty="0">
                <a:solidFill>
                  <a:srgbClr val="1C2B3A"/>
                </a:solidFill>
              </a:rPr>
              <a:t>The rules, and the answer that triggers each one</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5815218" cy="914400"/>
        </p:xfrm>
        <a:graphic>
          <a:graphicData uri="http://schemas.openxmlformats.org/drawingml/2006/table">
            <a:tbl>
              <a:tblPr/>
              <a:tblGrid>
                <a:gridCol w="2180707"/>
                <a:gridCol w="2423008"/>
                <a:gridCol w="1211504"/>
              </a:tblGrid>
              <a:tr h="365760">
                <a:tc>
                  <a:txBody>
                    <a:bodyPr/>
                    <a:lstStyle/>
                    <a:p>
                      <a:pPr algn="ctr" indent="0" marL="0">
                        <a:buNone/>
                      </a:pPr>
                      <a:r>
                        <a:rPr lang="en-US" sz="950" b="1" dirty="0">
                          <a:solidFill>
                            <a:srgbClr val="FFFFFF"/>
                          </a:solidFill>
                        </a:rPr>
                        <a:t>Guidance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Fires when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50" b="1" dirty="0">
                          <a:solidFill>
                            <a:srgbClr val="FFFFFF"/>
                          </a:solidFill>
                        </a:rPr>
                        <a:t>Fired for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402336">
                <a:tc>
                  <a:txBody>
                    <a:bodyPr/>
                    <a:lstStyle/>
                    <a:p>
                      <a:pPr algn="ctr" indent="0" marL="0">
                        <a:buNone/>
                      </a:pPr>
                      <a:r>
                        <a:rPr lang="en-US" sz="950" dirty="0">
                          <a:solidFill>
                            <a:srgbClr val="1C2B3A"/>
                          </a:solidFill>
                        </a:rPr>
                        <a:t>Automate the monthly contribution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Conscientiousness below the group mean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02336">
                <a:tc>
                  <a:txBody>
                    <a:bodyPr/>
                    <a:lstStyle/>
                    <a:p>
                      <a:pPr algn="ctr" indent="0" marL="0">
                        <a:buNone/>
                      </a:pPr>
                      <a:r>
                        <a:rPr lang="en-US" sz="950" dirty="0">
                          <a:solidFill>
                            <a:srgbClr val="1C2B3A"/>
                          </a:solidFill>
                        </a:rPr>
                        <a:t>Fix the review dates in advance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Organization facet below 3 out of 5</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251250039</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02336">
                <a:tc>
                  <a:txBody>
                    <a:bodyPr/>
                    <a:lstStyle/>
                    <a:p>
                      <a:pPr algn="ctr" indent="0" marL="0">
                        <a:buNone/>
                      </a:pPr>
                      <a:r>
                        <a:rPr lang="en-US" sz="950" dirty="0">
                          <a:solidFill>
                            <a:srgbClr val="1C2B3A"/>
                          </a:solidFill>
                        </a:rPr>
                        <a:t>Step the equity weight up over time</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Low negative emotionality and a long horizon</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251250047</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02336">
                <a:tc>
                  <a:txBody>
                    <a:bodyPr/>
                    <a:lstStyle/>
                    <a:p>
                      <a:pPr algn="ctr" indent="0" marL="0">
                        <a:buNone/>
                      </a:pPr>
                      <a:r>
                        <a:rPr lang="en-US" sz="950" dirty="0">
                          <a:solidFill>
                            <a:srgbClr val="1C2B3A"/>
                          </a:solidFill>
                        </a:rPr>
                        <a:t>Show the downside in rupees, not percent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A switch part way down the risk ladder</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C2B3A"/>
                          </a:solidFill>
                        </a:rPr>
                        <a:t>251250002</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02336">
                <a:tc>
                  <a:txBody>
                    <a:bodyPr/>
                    <a:lstStyle/>
                    <a:p>
                      <a:pPr algn="ctr" indent="0" marL="0">
                        <a:buNone/>
                      </a:pPr>
                      <a:r>
                        <a:rPr lang="en-US" sz="950" dirty="0">
                          <a:solidFill>
                            <a:srgbClr val="1C2B3A"/>
                          </a:solidFill>
                        </a:rPr>
                        <a:t>Confirm the real horizon first</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Cash preferred at every rate offered</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50" dirty="0">
                          <a:solidFill>
                            <a:srgbClr val="1C2B3A"/>
                          </a:solidFill>
                        </a:rPr>
                        <a:t>251250030</a:t>
                      </a:r>
                      <a:endParaRPr lang="en-US" sz="95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bl>
          </a:graphicData>
        </a:graphic>
      </p:graphicFrame>
      <p:sp>
        <p:nvSpPr>
          <p:cNvPr id="7" name="Shape 4"/>
          <p:cNvSpPr/>
          <p:nvPr/>
        </p:nvSpPr>
        <p:spPr>
          <a:xfrm>
            <a:off x="502920" y="4622292"/>
            <a:ext cx="5815218" cy="1426464"/>
          </a:xfrm>
          <a:prstGeom prst="rect">
            <a:avLst/>
          </a:prstGeom>
          <a:solidFill>
            <a:srgbClr val="F2F5F9"/>
          </a:solidFill>
          <a:ln/>
        </p:spPr>
      </p:sp>
      <p:sp>
        <p:nvSpPr>
          <p:cNvPr id="8" name="Shape 5"/>
          <p:cNvSpPr/>
          <p:nvPr/>
        </p:nvSpPr>
        <p:spPr>
          <a:xfrm>
            <a:off x="502920" y="4622292"/>
            <a:ext cx="59436" cy="1426464"/>
          </a:xfrm>
          <a:prstGeom prst="rect">
            <a:avLst/>
          </a:prstGeom>
          <a:solidFill>
            <a:srgbClr val="00A99D"/>
          </a:solidFill>
          <a:ln/>
        </p:spPr>
      </p:sp>
      <p:sp>
        <p:nvSpPr>
          <p:cNvPr id="9" name="Text 6"/>
          <p:cNvSpPr txBox="1"/>
          <p:nvPr/>
        </p:nvSpPr>
        <p:spPr>
          <a:xfrm>
            <a:off x="740664" y="4732020"/>
            <a:ext cx="5358018" cy="457200"/>
          </a:xfrm>
          <a:prstGeom prst="rect">
            <a:avLst/>
          </a:prstGeom>
          <a:noFill/>
          <a:ln/>
        </p:spPr>
        <p:txBody>
          <a:bodyPr wrap="square" lIns="0" tIns="0" rIns="0" bIns="0" rtlCol="0" anchor="t"/>
          <a:lstStyle/>
          <a:p>
            <a:pPr indent="0" marL="0">
              <a:buNone/>
            </a:pPr>
            <a:r>
              <a:rPr lang="en-US" sz="1200" b="1" dirty="0">
                <a:solidFill>
                  <a:srgbClr val="1C2B3A"/>
                </a:solidFill>
              </a:rPr>
              <a:t>How it was done</a:t>
            </a:r>
            <a:endParaRPr lang="en-US" sz="1200" dirty="0"/>
          </a:p>
        </p:txBody>
      </p:sp>
      <p:sp>
        <p:nvSpPr>
          <p:cNvPr id="10" name="Text 7"/>
          <p:cNvSpPr txBox="1"/>
          <p:nvPr/>
        </p:nvSpPr>
        <p:spPr>
          <a:xfrm>
            <a:off x="740664" y="5189220"/>
            <a:ext cx="5358018" cy="713232"/>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Risk aversion is already measured in Step 4, so personality is used only where it predicts something else: whether the client stays with the plan. Each rule names the answer that set it off, so nothing in the advice is unexplained.</a:t>
            </a:r>
            <a:endParaRPr lang="en-US" sz="950" dirty="0"/>
          </a:p>
        </p:txBody>
      </p:sp>
      <p:sp>
        <p:nvSpPr>
          <p:cNvPr id="11" name="Shape 8"/>
          <p:cNvSpPr/>
          <p:nvPr/>
        </p:nvSpPr>
        <p:spPr>
          <a:xfrm>
            <a:off x="6653632" y="1824228"/>
            <a:ext cx="5032400" cy="960120"/>
          </a:xfrm>
          <a:prstGeom prst="rect">
            <a:avLst/>
          </a:prstGeom>
          <a:solidFill>
            <a:srgbClr val="F2F5F9"/>
          </a:solidFill>
          <a:ln/>
        </p:spPr>
      </p:sp>
      <p:sp>
        <p:nvSpPr>
          <p:cNvPr id="12" name="Shape 9"/>
          <p:cNvSpPr/>
          <p:nvPr/>
        </p:nvSpPr>
        <p:spPr>
          <a:xfrm>
            <a:off x="6653632" y="1824228"/>
            <a:ext cx="59436" cy="960120"/>
          </a:xfrm>
          <a:prstGeom prst="rect">
            <a:avLst/>
          </a:prstGeom>
          <a:solidFill>
            <a:srgbClr val="00A99D"/>
          </a:solidFill>
          <a:ln/>
        </p:spPr>
      </p:sp>
      <p:sp>
        <p:nvSpPr>
          <p:cNvPr id="13" name="Text 10"/>
          <p:cNvSpPr txBox="1"/>
          <p:nvPr/>
        </p:nvSpPr>
        <p:spPr>
          <a:xfrm>
            <a:off x="6891376" y="1933956"/>
            <a:ext cx="4575200" cy="457200"/>
          </a:xfrm>
          <a:prstGeom prst="rect">
            <a:avLst/>
          </a:prstGeom>
          <a:noFill/>
          <a:ln/>
        </p:spPr>
        <p:txBody>
          <a:bodyPr wrap="square" lIns="0" tIns="0" rIns="0" bIns="0" rtlCol="0" anchor="t"/>
          <a:lstStyle/>
          <a:p>
            <a:pPr indent="0" marL="0">
              <a:buNone/>
            </a:pPr>
            <a:r>
              <a:rPr lang="en-US" sz="1150" b="1" dirty="0">
                <a:solidFill>
                  <a:srgbClr val="1C2B3A"/>
                </a:solidFill>
              </a:rPr>
              <a:t>251250039: build in the follow-through</a:t>
            </a:r>
            <a:endParaRPr lang="en-US" sz="1150" dirty="0"/>
          </a:p>
        </p:txBody>
      </p:sp>
      <p:sp>
        <p:nvSpPr>
          <p:cNvPr id="14" name="Text 11"/>
          <p:cNvSpPr txBox="1"/>
          <p:nvPr/>
        </p:nvSpPr>
        <p:spPr>
          <a:xfrm>
            <a:off x="6891376" y="2391156"/>
            <a:ext cx="4575200"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Conscientiousness 2.33. Automate the contribution and rebalance on a threshold.</a:t>
            </a:r>
            <a:endParaRPr lang="en-US" sz="950" dirty="0"/>
          </a:p>
        </p:txBody>
      </p:sp>
      <p:sp>
        <p:nvSpPr>
          <p:cNvPr id="15" name="Shape 12"/>
          <p:cNvSpPr/>
          <p:nvPr/>
        </p:nvSpPr>
        <p:spPr>
          <a:xfrm>
            <a:off x="6653632" y="2930652"/>
            <a:ext cx="5032400" cy="960120"/>
          </a:xfrm>
          <a:prstGeom prst="rect">
            <a:avLst/>
          </a:prstGeom>
          <a:solidFill>
            <a:srgbClr val="F2F5F9"/>
          </a:solidFill>
          <a:ln/>
        </p:spPr>
      </p:sp>
      <p:sp>
        <p:nvSpPr>
          <p:cNvPr id="16" name="Shape 13"/>
          <p:cNvSpPr/>
          <p:nvPr/>
        </p:nvSpPr>
        <p:spPr>
          <a:xfrm>
            <a:off x="6653632" y="2930652"/>
            <a:ext cx="59436" cy="960120"/>
          </a:xfrm>
          <a:prstGeom prst="rect">
            <a:avLst/>
          </a:prstGeom>
          <a:solidFill>
            <a:srgbClr val="F0922B"/>
          </a:solidFill>
          <a:ln/>
        </p:spPr>
      </p:sp>
      <p:sp>
        <p:nvSpPr>
          <p:cNvPr id="17" name="Text 14"/>
          <p:cNvSpPr txBox="1"/>
          <p:nvPr/>
        </p:nvSpPr>
        <p:spPr>
          <a:xfrm>
            <a:off x="6891376" y="3040380"/>
            <a:ext cx="4575200" cy="457200"/>
          </a:xfrm>
          <a:prstGeom prst="rect">
            <a:avLst/>
          </a:prstGeom>
          <a:noFill/>
          <a:ln/>
        </p:spPr>
        <p:txBody>
          <a:bodyPr wrap="square" lIns="0" tIns="0" rIns="0" bIns="0" rtlCol="0" anchor="t"/>
          <a:lstStyle/>
          <a:p>
            <a:pPr indent="0" marL="0">
              <a:buNone/>
            </a:pPr>
            <a:r>
              <a:rPr lang="en-US" sz="1150" b="1" dirty="0">
                <a:solidFill>
                  <a:srgbClr val="1C2B3A"/>
                </a:solidFill>
              </a:rPr>
              <a:t>251250047: methodical and calm</a:t>
            </a:r>
            <a:endParaRPr lang="en-US" sz="1150" dirty="0"/>
          </a:p>
        </p:txBody>
      </p:sp>
      <p:sp>
        <p:nvSpPr>
          <p:cNvPr id="18" name="Text 15"/>
          <p:cNvSpPr txBox="1"/>
          <p:nvPr/>
        </p:nvSpPr>
        <p:spPr>
          <a:xfrm>
            <a:off x="6891376" y="3497580"/>
            <a:ext cx="4575200"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Conscientiousness 3.83 and the group's lowest negative emotionality at 1.67. A glide path suits this well.</a:t>
            </a:r>
            <a:endParaRPr lang="en-US" sz="950" dirty="0"/>
          </a:p>
        </p:txBody>
      </p:sp>
      <p:sp>
        <p:nvSpPr>
          <p:cNvPr id="19" name="Shape 16"/>
          <p:cNvSpPr/>
          <p:nvPr/>
        </p:nvSpPr>
        <p:spPr>
          <a:xfrm>
            <a:off x="6653632" y="4037076"/>
            <a:ext cx="5032400" cy="960120"/>
          </a:xfrm>
          <a:prstGeom prst="rect">
            <a:avLst/>
          </a:prstGeom>
          <a:solidFill>
            <a:srgbClr val="F2F5F9"/>
          </a:solidFill>
          <a:ln/>
        </p:spPr>
      </p:sp>
      <p:sp>
        <p:nvSpPr>
          <p:cNvPr id="20" name="Shape 17"/>
          <p:cNvSpPr/>
          <p:nvPr/>
        </p:nvSpPr>
        <p:spPr>
          <a:xfrm>
            <a:off x="6653632" y="4037076"/>
            <a:ext cx="59436" cy="960120"/>
          </a:xfrm>
          <a:prstGeom prst="rect">
            <a:avLst/>
          </a:prstGeom>
          <a:solidFill>
            <a:srgbClr val="2E9E5B"/>
          </a:solidFill>
          <a:ln/>
        </p:spPr>
      </p:sp>
      <p:sp>
        <p:nvSpPr>
          <p:cNvPr id="21" name="Text 18"/>
          <p:cNvSpPr txBox="1"/>
          <p:nvPr/>
        </p:nvSpPr>
        <p:spPr>
          <a:xfrm>
            <a:off x="6891376" y="4146804"/>
            <a:ext cx="4575200" cy="457200"/>
          </a:xfrm>
          <a:prstGeom prst="rect">
            <a:avLst/>
          </a:prstGeom>
          <a:noFill/>
          <a:ln/>
        </p:spPr>
        <p:txBody>
          <a:bodyPr wrap="square" lIns="0" tIns="0" rIns="0" bIns="0" rtlCol="0" anchor="t"/>
          <a:lstStyle/>
          <a:p>
            <a:pPr indent="0" marL="0">
              <a:buNone/>
            </a:pPr>
            <a:r>
              <a:rPr lang="en-US" sz="1150" b="1" dirty="0">
                <a:solidFill>
                  <a:srgbClr val="1C2B3A"/>
                </a:solidFill>
              </a:rPr>
              <a:t>251250002: frame it in rupees</a:t>
            </a:r>
            <a:endParaRPr lang="en-US" sz="1150" dirty="0"/>
          </a:p>
        </p:txBody>
      </p:sp>
      <p:sp>
        <p:nvSpPr>
          <p:cNvPr id="22" name="Text 19"/>
          <p:cNvSpPr txBox="1"/>
          <p:nvPr/>
        </p:nvSpPr>
        <p:spPr>
          <a:xfrm>
            <a:off x="6891376" y="4604004"/>
            <a:ext cx="4575200"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Balanced across every domain. The switch at row 3 suggests risk is judged in nominal amounts, so show the downside as a rupee figure.</a:t>
            </a:r>
            <a:endParaRPr lang="en-US" sz="950" dirty="0"/>
          </a:p>
        </p:txBody>
      </p:sp>
      <p:sp>
        <p:nvSpPr>
          <p:cNvPr id="23" name="Shape 20"/>
          <p:cNvSpPr/>
          <p:nvPr/>
        </p:nvSpPr>
        <p:spPr>
          <a:xfrm>
            <a:off x="6653632" y="5143500"/>
            <a:ext cx="5032400" cy="960120"/>
          </a:xfrm>
          <a:prstGeom prst="rect">
            <a:avLst/>
          </a:prstGeom>
          <a:solidFill>
            <a:srgbClr val="F2F5F9"/>
          </a:solidFill>
          <a:ln/>
        </p:spPr>
      </p:sp>
      <p:sp>
        <p:nvSpPr>
          <p:cNvPr id="24" name="Shape 21"/>
          <p:cNvSpPr/>
          <p:nvPr/>
        </p:nvSpPr>
        <p:spPr>
          <a:xfrm>
            <a:off x="6653632" y="5143500"/>
            <a:ext cx="59436" cy="960120"/>
          </a:xfrm>
          <a:prstGeom prst="rect">
            <a:avLst/>
          </a:prstGeom>
          <a:solidFill>
            <a:srgbClr val="7B61D9"/>
          </a:solidFill>
          <a:ln/>
        </p:spPr>
      </p:sp>
      <p:sp>
        <p:nvSpPr>
          <p:cNvPr id="25" name="Text 22"/>
          <p:cNvSpPr txBox="1"/>
          <p:nvPr/>
        </p:nvSpPr>
        <p:spPr>
          <a:xfrm>
            <a:off x="6891376" y="5253228"/>
            <a:ext cx="4575200" cy="457200"/>
          </a:xfrm>
          <a:prstGeom prst="rect">
            <a:avLst/>
          </a:prstGeom>
          <a:noFill/>
          <a:ln/>
        </p:spPr>
        <p:txBody>
          <a:bodyPr wrap="square" lIns="0" tIns="0" rIns="0" bIns="0" rtlCol="0" anchor="t"/>
          <a:lstStyle/>
          <a:p>
            <a:pPr indent="0" marL="0">
              <a:buNone/>
            </a:pPr>
            <a:r>
              <a:rPr lang="en-US" sz="1150" b="1" dirty="0">
                <a:solidFill>
                  <a:srgbClr val="1C2B3A"/>
                </a:solidFill>
              </a:rPr>
              <a:t>251250030: start with a conversation</a:t>
            </a:r>
            <a:endParaRPr lang="en-US" sz="1150" dirty="0"/>
          </a:p>
        </p:txBody>
      </p:sp>
      <p:sp>
        <p:nvSpPr>
          <p:cNvPr id="26" name="Text 23"/>
          <p:cNvSpPr txBox="1"/>
          <p:nvPr/>
        </p:nvSpPr>
        <p:spPr>
          <a:xfrm>
            <a:off x="6891376" y="5710428"/>
            <a:ext cx="4575200" cy="246888"/>
          </a:xfrm>
          <a:prstGeom prst="rect">
            <a:avLst/>
          </a:prstGeom>
          <a:noFill/>
          <a:ln/>
        </p:spPr>
        <p:txBody>
          <a:bodyPr wrap="square" lIns="0" tIns="0" rIns="0" bIns="0" rtlCol="0" anchor="t"/>
          <a:lstStyle/>
          <a:p>
            <a:pPr indent="0" marL="0">
              <a:lnSpc>
                <a:spcPct val="120000"/>
              </a:lnSpc>
              <a:buNone/>
            </a:pPr>
            <a:r>
              <a:rPr lang="en-US" sz="950" dirty="0">
                <a:solidFill>
                  <a:srgbClr val="4A5B6E"/>
                </a:solidFill>
              </a:rPr>
              <a:t>Took the gamble throughout and preferred cash now at every rate. A short interview will establish the real horizon before the plan is set.</a:t>
            </a:r>
            <a:endParaRPr lang="en-US" sz="950" dirty="0"/>
          </a:p>
        </p:txBody>
      </p:sp>
      <p:sp>
        <p:nvSpPr>
          <p:cNvPr id="28"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WHAT WAS DELIVERED</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How Each Step Was Completed</a:t>
            </a:r>
            <a:endParaRPr lang="en-US" sz="2400" dirty="0"/>
          </a:p>
        </p:txBody>
      </p:sp>
      <p:sp>
        <p:nvSpPr>
          <p:cNvPr id="4" name="Text 2"/>
          <p:cNvSpPr txBox="1"/>
          <p:nvPr/>
        </p:nvSpPr>
        <p:spPr>
          <a:xfrm>
            <a:off x="502920" y="1513332"/>
            <a:ext cx="11183112" cy="274320"/>
          </a:xfrm>
          <a:prstGeom prst="rect">
            <a:avLst/>
          </a:prstGeom>
          <a:noFill/>
          <a:ln/>
        </p:spPr>
        <p:txBody>
          <a:bodyPr wrap="square" lIns="0" tIns="0" rIns="0" bIns="0" rtlCol="0" anchor="ctr"/>
          <a:lstStyle/>
          <a:p>
            <a:pPr indent="0" marL="0">
              <a:buNone/>
            </a:pPr>
            <a:r>
              <a:rPr lang="en-US" sz="1100" i="1" dirty="0">
                <a:solidFill>
                  <a:srgbClr val="4A5B6E"/>
                </a:solidFill>
              </a:rPr>
              <a:t>The same six steps again, this time with the evidence for each one.</a:t>
            </a:r>
            <a:endParaRPr lang="en-US" sz="1100" dirty="0"/>
          </a:p>
        </p:txBody>
      </p:sp>
      <p:sp>
        <p:nvSpPr>
          <p:cNvPr id="5" name="Text 3"/>
          <p:cNvSpPr txBox="1"/>
          <p:nvPr/>
        </p:nvSpPr>
        <p:spPr>
          <a:xfrm>
            <a:off x="502920" y="1824228"/>
            <a:ext cx="11183112" cy="237744"/>
          </a:xfrm>
          <a:prstGeom prst="rect">
            <a:avLst/>
          </a:prstGeom>
          <a:noFill/>
          <a:ln/>
        </p:spPr>
        <p:txBody>
          <a:bodyPr wrap="square" lIns="0" tIns="0" rIns="0" bIns="0" rtlCol="0" anchor="ctr"/>
          <a:lstStyle/>
          <a:p>
            <a:pPr indent="0" marL="0">
              <a:buNone/>
            </a:pPr>
            <a:r>
              <a:rPr lang="en-US" sz="1250" b="1" dirty="0">
                <a:solidFill>
                  <a:srgbClr val="1C2B3A"/>
                </a:solidFill>
              </a:rPr>
              <a:t>Step by step, what exists at the end of the project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098548"/>
          <a:ext cx="11183112" cy="914400"/>
        </p:xfrm>
        <a:graphic>
          <a:graphicData uri="http://schemas.openxmlformats.org/drawingml/2006/table">
            <a:tbl>
              <a:tblPr/>
              <a:tblGrid>
                <a:gridCol w="2096833"/>
                <a:gridCol w="6150712"/>
                <a:gridCol w="2935567"/>
              </a:tblGrid>
              <a:tr h="365760">
                <a:tc>
                  <a:txBody>
                    <a:bodyPr/>
                    <a:lstStyle/>
                    <a:p>
                      <a:pPr algn="ctr" indent="0" marL="0">
                        <a:buNone/>
                      </a:pPr>
                      <a:r>
                        <a:rPr lang="en-US" sz="900" b="1" dirty="0">
                          <a:solidFill>
                            <a:srgbClr val="FFFFFF"/>
                          </a:solidFill>
                        </a:rPr>
                        <a:t>Step</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How it was completed</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c>
                  <a:txBody>
                    <a:bodyPr/>
                    <a:lstStyle/>
                    <a:p>
                      <a:pPr algn="ctr" indent="0" marL="0">
                        <a:buNone/>
                      </a:pPr>
                      <a:r>
                        <a:rPr lang="en-US" sz="900" b="1" dirty="0">
                          <a:solidFill>
                            <a:srgbClr val="FFFFFF"/>
                          </a:solidFill>
                        </a:rPr>
                        <a:t>Where to see it</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0E2235"/>
                    </a:solidFill>
                  </a:tcPr>
                </a:tc>
              </a:tr>
              <a:tr h="457200">
                <a:tc>
                  <a:txBody>
                    <a:bodyPr/>
                    <a:lstStyle/>
                    <a:p>
                      <a:pPr algn="ctr" indent="0" marL="0">
                        <a:buNone/>
                      </a:pPr>
                      <a:r>
                        <a:rPr lang="en-US" sz="900" dirty="0">
                          <a:solidFill>
                            <a:srgbClr val="1C2B3A"/>
                          </a:solidFill>
                        </a:rPr>
                        <a:t>1. Peer group and survey</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Eight profile questions fielded to four classmates, answers stored under roll numbers and exported to one file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Portal Section 1, responses_real.json</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57200">
                <a:tc>
                  <a:txBody>
                    <a:bodyPr/>
                    <a:lstStyle/>
                    <a:p>
                      <a:pPr algn="ctr" indent="0" marL="0">
                        <a:buNone/>
                      </a:pPr>
                      <a:r>
                        <a:rPr lang="en-US" sz="900" dirty="0">
                          <a:solidFill>
                            <a:srgbClr val="1C2B3A"/>
                          </a:solidFill>
                        </a:rPr>
                        <a:t>2. Risk attitude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All eight ladder rows answered by all four; each pattern classified and the expected utility check reported</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Report Section 2, figure c3</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57200">
                <a:tc>
                  <a:txBody>
                    <a:bodyPr/>
                    <a:lstStyle/>
                    <a:p>
                      <a:pPr algn="ctr" indent="0" marL="0">
                        <a:buNone/>
                      </a:pPr>
                      <a:r>
                        <a:rPr lang="en-US" sz="900" dirty="0">
                          <a:solidFill>
                            <a:srgbClr val="1C2B3A"/>
                          </a:solidFill>
                        </a:rPr>
                        <a:t>3. Time preference</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All six rows answered by all four; a discount rate bracket and a midpoint estimate produced for each</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Report Section 3, figure c4</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57200">
                <a:tc>
                  <a:txBody>
                    <a:bodyPr/>
                    <a:lstStyle/>
                    <a:p>
                      <a:pPr algn="ctr" indent="0" marL="0">
                        <a:buNone/>
                      </a:pPr>
                      <a:r>
                        <a:rPr lang="en-US" sz="900" dirty="0">
                          <a:solidFill>
                            <a:srgbClr val="1C2B3A"/>
                          </a:solidFill>
                        </a:rPr>
                        <a:t>4. Curves and personality</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Utility curves fitted for two respondents, value curves for three, and all thirty personality items scored for all four</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Report Section 4, figures c1, c2, c5</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57200">
                <a:tc>
                  <a:txBody>
                    <a:bodyPr/>
                    <a:lstStyle/>
                    <a:p>
                      <a:pPr algn="ctr" indent="0" marL="0">
                        <a:buNone/>
                      </a:pPr>
                      <a:r>
                        <a:rPr lang="en-US" sz="900" dirty="0">
                          <a:solidFill>
                            <a:srgbClr val="1C2B3A"/>
                          </a:solidFill>
                        </a:rPr>
                        <a:t>5. Portfolio</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Advised equity weight computed for every respondent with a fitted curve, under three return scenarios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Report Section 5, figures c6, c7</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r h="457200">
                <a:tc>
                  <a:txBody>
                    <a:bodyPr/>
                    <a:lstStyle/>
                    <a:p>
                      <a:pPr algn="ctr" indent="0" marL="0">
                        <a:buNone/>
                      </a:pPr>
                      <a:r>
                        <a:rPr lang="en-US" sz="900" dirty="0">
                          <a:solidFill>
                            <a:srgbClr val="1C2B3A"/>
                          </a:solidFill>
                        </a:rPr>
                        <a:t>6. Advice and tool</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Written commentary per respondent, plus a live portal that fields the form and repeats the whole calculation in the browser</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C2B3A"/>
                          </a:solidFill>
                        </a:rPr>
                        <a:t>Report Section 6, the portal</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FFFFFF"/>
                    </a:solidFill>
                  </a:tcPr>
                </a:tc>
              </a:tr>
              <a:tr h="457200">
                <a:tc>
                  <a:txBody>
                    <a:bodyPr/>
                    <a:lstStyle/>
                    <a:p>
                      <a:pPr algn="ctr" indent="0" marL="0">
                        <a:buNone/>
                      </a:pPr>
                      <a:r>
                        <a:rPr lang="en-US" sz="900" dirty="0">
                          <a:solidFill>
                            <a:srgbClr val="1C2B3A"/>
                          </a:solidFill>
                        </a:rPr>
                        <a:t>Beyond the brief</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Seven extra questions added to the form so the behavioral layers can be sized from stated preferences</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c>
                  <a:txBody>
                    <a:bodyPr/>
                    <a:lstStyle/>
                    <a:p>
                      <a:pPr algn="ctr" indent="0" marL="0">
                        <a:buNone/>
                      </a:pPr>
                      <a:r>
                        <a:rPr lang="en-US" sz="900" dirty="0">
                          <a:solidFill>
                            <a:srgbClr val="1C2B3A"/>
                          </a:solidFill>
                        </a:rPr>
                        <a:t>Portal Section 7</a:t>
                      </a:r>
                      <a:endParaRPr lang="en-US" sz="900" dirty="0"/>
                    </a:p>
                  </a:txBody>
                  <a:tcPr marL="54864" marR="54864" marT="54864" marB="54864" anchor="ctr">
                    <a:lnL w="9525" cap="flat" cmpd="sng" algn="ctr">
                      <a:solidFill>
                        <a:srgbClr val="D8E0E9"/>
                      </a:solidFill>
                      <a:prstDash val="solid"/>
                      <a:round/>
                      <a:headEnd type="none" w="med" len="med"/>
                      <a:tailEnd type="none" w="med" len="med"/>
                    </a:lnL>
                    <a:lnR w="9525" cap="flat" cmpd="sng" algn="ctr">
                      <a:solidFill>
                        <a:srgbClr val="D8E0E9"/>
                      </a:solidFill>
                      <a:prstDash val="solid"/>
                      <a:round/>
                      <a:headEnd type="none" w="med" len="med"/>
                      <a:tailEnd type="none" w="med" len="med"/>
                    </a:lnR>
                    <a:lnT w="9525" cap="flat" cmpd="sng" algn="ctr">
                      <a:solidFill>
                        <a:srgbClr val="D8E0E9"/>
                      </a:solidFill>
                      <a:prstDash val="solid"/>
                      <a:round/>
                      <a:headEnd type="none" w="med" len="med"/>
                      <a:tailEnd type="none" w="med" len="med"/>
                    </a:lnT>
                    <a:lnB w="9525" cap="flat" cmpd="sng" algn="ctr">
                      <a:solidFill>
                        <a:srgbClr val="D8E0E9"/>
                      </a:solidFill>
                      <a:prstDash val="solid"/>
                      <a:round/>
                      <a:headEnd type="none" w="med" len="med"/>
                      <a:tailEnd type="none" w="med" len="med"/>
                    </a:lnB>
                    <a:solidFill>
                      <a:srgbClr val="EAF4F3"/>
                    </a:solidFill>
                  </a:tcPr>
                </a:tc>
              </a:tr>
            </a:tbl>
          </a:graphicData>
        </a:graphic>
      </p:graphicFrame>
      <p:sp>
        <p:nvSpPr>
          <p:cNvPr id="7" name="Text 4"/>
          <p:cNvSpPr txBox="1"/>
          <p:nvPr/>
        </p:nvSpPr>
        <p:spPr>
          <a:xfrm>
            <a:off x="502920" y="5811012"/>
            <a:ext cx="11183112" cy="365760"/>
          </a:xfrm>
          <a:prstGeom prst="rect">
            <a:avLst/>
          </a:prstGeom>
          <a:noFill/>
          <a:ln/>
        </p:spPr>
        <p:txBody>
          <a:bodyPr wrap="square" lIns="0" tIns="0" rIns="0" bIns="0" rtlCol="0" anchor="ctr"/>
          <a:lstStyle/>
          <a:p>
            <a:pPr indent="0" marL="0">
              <a:buNone/>
            </a:pPr>
            <a:r>
              <a:rPr lang="en-US" sz="950" i="1" dirty="0">
                <a:solidFill>
                  <a:srgbClr val="8898A8"/>
                </a:solidFill>
              </a:rPr>
              <a:t>Two respondents are scheduled for a short re-elicitation so their utility and value curves join the Step 5 run.</a:t>
            </a:r>
            <a:endParaRPr lang="en-US" sz="950" dirty="0"/>
          </a:p>
        </p:txBody>
      </p:sp>
      <p:sp>
        <p:nvSpPr>
          <p:cNvPr id="9"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THE DELIVERABLE</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The Robo-Advisory Portal</a:t>
            </a:r>
            <a:endParaRPr lang="en-US" sz="2400" dirty="0"/>
          </a:p>
        </p:txBody>
      </p:sp>
      <p:sp>
        <p:nvSpPr>
          <p:cNvPr id="4" name="Text 2"/>
          <p:cNvSpPr txBox="1"/>
          <p:nvPr/>
        </p:nvSpPr>
        <p:spPr>
          <a:xfrm>
            <a:off x="502920" y="1513332"/>
            <a:ext cx="11183112" cy="365760"/>
          </a:xfrm>
          <a:prstGeom prst="rect">
            <a:avLst/>
          </a:prstGeom>
          <a:noFill/>
          <a:ln/>
        </p:spPr>
        <p:txBody>
          <a:bodyPr wrap="square" lIns="0" tIns="0" rIns="0" bIns="0" rtlCol="0" anchor="ctr"/>
          <a:lstStyle/>
          <a:p>
            <a:pPr indent="0" marL="0">
              <a:buNone/>
            </a:pPr>
            <a:r>
              <a:rPr lang="en-US" sz="1150" i="1" dirty="0">
                <a:solidFill>
                  <a:srgbClr val="4A5B6E"/>
                </a:solidFill>
              </a:rPr>
              <a:t>One static page, no server and no sign-in, so it opens on a phone in a classroom.</a:t>
            </a:r>
            <a:endParaRPr lang="en-US" sz="1150" dirty="0"/>
          </a:p>
        </p:txBody>
      </p:sp>
      <p:sp>
        <p:nvSpPr>
          <p:cNvPr id="5" name="Shape 3"/>
          <p:cNvSpPr/>
          <p:nvPr/>
        </p:nvSpPr>
        <p:spPr>
          <a:xfrm>
            <a:off x="502920" y="1970532"/>
            <a:ext cx="3544824" cy="3470148"/>
          </a:xfrm>
          <a:prstGeom prst="rect">
            <a:avLst/>
          </a:prstGeom>
          <a:solidFill>
            <a:srgbClr val="F2F5F9"/>
          </a:solidFill>
          <a:ln/>
        </p:spPr>
      </p:sp>
      <p:sp>
        <p:nvSpPr>
          <p:cNvPr id="6" name="Shape 4"/>
          <p:cNvSpPr/>
          <p:nvPr/>
        </p:nvSpPr>
        <p:spPr>
          <a:xfrm>
            <a:off x="502920" y="1970532"/>
            <a:ext cx="59436" cy="3470148"/>
          </a:xfrm>
          <a:prstGeom prst="rect">
            <a:avLst/>
          </a:prstGeom>
          <a:solidFill>
            <a:srgbClr val="00A99D"/>
          </a:solidFill>
          <a:ln/>
        </p:spPr>
      </p:sp>
      <p:sp>
        <p:nvSpPr>
          <p:cNvPr id="7" name="Text 5"/>
          <p:cNvSpPr txBox="1"/>
          <p:nvPr/>
        </p:nvSpPr>
        <p:spPr>
          <a:xfrm>
            <a:off x="740664" y="2080260"/>
            <a:ext cx="3087624" cy="457200"/>
          </a:xfrm>
          <a:prstGeom prst="rect">
            <a:avLst/>
          </a:prstGeom>
          <a:noFill/>
          <a:ln/>
        </p:spPr>
        <p:txBody>
          <a:bodyPr wrap="square" lIns="0" tIns="0" rIns="0" bIns="0" rtlCol="0" anchor="t"/>
          <a:lstStyle/>
          <a:p>
            <a:pPr indent="0" marL="0">
              <a:buNone/>
            </a:pPr>
            <a:r>
              <a:rPr lang="en-US" sz="1400" b="1" dirty="0">
                <a:solidFill>
                  <a:srgbClr val="1C2B3A"/>
                </a:solidFill>
              </a:rPr>
              <a:t>Fields the whole form</a:t>
            </a:r>
            <a:endParaRPr lang="en-US" sz="1400" dirty="0"/>
          </a:p>
        </p:txBody>
      </p:sp>
      <p:sp>
        <p:nvSpPr>
          <p:cNvPr id="8" name="Text 6"/>
          <p:cNvSpPr txBox="1"/>
          <p:nvPr/>
        </p:nvSpPr>
        <p:spPr>
          <a:xfrm>
            <a:off x="740664" y="2537460"/>
            <a:ext cx="3087624" cy="2756916"/>
          </a:xfrm>
          <a:prstGeom prst="rect">
            <a:avLst/>
          </a:prstGeom>
          <a:noFill/>
          <a:ln/>
        </p:spPr>
        <p:txBody>
          <a:bodyPr wrap="square" lIns="0" tIns="0" rIns="0" bIns="0" rtlCol="0" anchor="t"/>
          <a:lstStyle/>
          <a:p>
            <a:pPr indent="0" marL="0">
              <a:lnSpc>
                <a:spcPct val="120000"/>
              </a:lnSpc>
              <a:buNone/>
            </a:pPr>
            <a:r>
              <a:rPr lang="en-US" sz="1100" dirty="0">
                <a:solidFill>
                  <a:srgbClr val="4A5B6E"/>
                </a:solidFill>
              </a:rPr>
              <a:t>All six class sections plus the seven added questions, written in plain English, with autosave and a one-click export of each respondent's answers.</a:t>
            </a:r>
            <a:endParaRPr lang="en-US" sz="1100" dirty="0"/>
          </a:p>
        </p:txBody>
      </p:sp>
      <p:sp>
        <p:nvSpPr>
          <p:cNvPr id="9" name="Shape 7"/>
          <p:cNvSpPr/>
          <p:nvPr/>
        </p:nvSpPr>
        <p:spPr>
          <a:xfrm>
            <a:off x="4322064" y="1970532"/>
            <a:ext cx="3544824" cy="3470148"/>
          </a:xfrm>
          <a:prstGeom prst="rect">
            <a:avLst/>
          </a:prstGeom>
          <a:solidFill>
            <a:srgbClr val="F2F5F9"/>
          </a:solidFill>
          <a:ln/>
        </p:spPr>
      </p:sp>
      <p:sp>
        <p:nvSpPr>
          <p:cNvPr id="10" name="Shape 8"/>
          <p:cNvSpPr/>
          <p:nvPr/>
        </p:nvSpPr>
        <p:spPr>
          <a:xfrm>
            <a:off x="4322064" y="1970532"/>
            <a:ext cx="59436" cy="3470148"/>
          </a:xfrm>
          <a:prstGeom prst="rect">
            <a:avLst/>
          </a:prstGeom>
          <a:solidFill>
            <a:srgbClr val="F0922B"/>
          </a:solidFill>
          <a:ln/>
        </p:spPr>
      </p:sp>
      <p:sp>
        <p:nvSpPr>
          <p:cNvPr id="11" name="Text 9"/>
          <p:cNvSpPr txBox="1"/>
          <p:nvPr/>
        </p:nvSpPr>
        <p:spPr>
          <a:xfrm>
            <a:off x="4559808" y="2080260"/>
            <a:ext cx="3087624" cy="457200"/>
          </a:xfrm>
          <a:prstGeom prst="rect">
            <a:avLst/>
          </a:prstGeom>
          <a:noFill/>
          <a:ln/>
        </p:spPr>
        <p:txBody>
          <a:bodyPr wrap="square" lIns="0" tIns="0" rIns="0" bIns="0" rtlCol="0" anchor="t"/>
          <a:lstStyle/>
          <a:p>
            <a:pPr indent="0" marL="0">
              <a:buNone/>
            </a:pPr>
            <a:r>
              <a:rPr lang="en-US" sz="1400" b="1" dirty="0">
                <a:solidFill>
                  <a:srgbClr val="1C2B3A"/>
                </a:solidFill>
              </a:rPr>
              <a:t>Fits and plots live</a:t>
            </a:r>
            <a:endParaRPr lang="en-US" sz="1400" dirty="0"/>
          </a:p>
        </p:txBody>
      </p:sp>
      <p:sp>
        <p:nvSpPr>
          <p:cNvPr id="12" name="Text 10"/>
          <p:cNvSpPr txBox="1"/>
          <p:nvPr/>
        </p:nvSpPr>
        <p:spPr>
          <a:xfrm>
            <a:off x="4559808" y="2537460"/>
            <a:ext cx="3087624" cy="2756916"/>
          </a:xfrm>
          <a:prstGeom prst="rect">
            <a:avLst/>
          </a:prstGeom>
          <a:noFill/>
          <a:ln/>
        </p:spPr>
        <p:txBody>
          <a:bodyPr wrap="square" lIns="0" tIns="0" rIns="0" bIns="0" rtlCol="0" anchor="t"/>
          <a:lstStyle/>
          <a:p>
            <a:pPr indent="0" marL="0">
              <a:lnSpc>
                <a:spcPct val="120000"/>
              </a:lnSpc>
              <a:buNone/>
            </a:pPr>
            <a:r>
              <a:rPr lang="en-US" sz="1100" dirty="0">
                <a:solidFill>
                  <a:srgbClr val="4A5B6E"/>
                </a:solidFill>
              </a:rPr>
              <a:t>Draws the respondent's own utility curve, value function and weighting function in the browser, using the same estimators that produced this deck.</a:t>
            </a:r>
            <a:endParaRPr lang="en-US" sz="1100" dirty="0"/>
          </a:p>
        </p:txBody>
      </p:sp>
      <p:sp>
        <p:nvSpPr>
          <p:cNvPr id="13" name="Shape 11"/>
          <p:cNvSpPr/>
          <p:nvPr/>
        </p:nvSpPr>
        <p:spPr>
          <a:xfrm>
            <a:off x="8141208" y="1970532"/>
            <a:ext cx="3544824" cy="3470148"/>
          </a:xfrm>
          <a:prstGeom prst="rect">
            <a:avLst/>
          </a:prstGeom>
          <a:solidFill>
            <a:srgbClr val="F2F5F9"/>
          </a:solidFill>
          <a:ln/>
        </p:spPr>
      </p:sp>
      <p:sp>
        <p:nvSpPr>
          <p:cNvPr id="14" name="Shape 12"/>
          <p:cNvSpPr/>
          <p:nvPr/>
        </p:nvSpPr>
        <p:spPr>
          <a:xfrm>
            <a:off x="8141208" y="1970532"/>
            <a:ext cx="59436" cy="3470148"/>
          </a:xfrm>
          <a:prstGeom prst="rect">
            <a:avLst/>
          </a:prstGeom>
          <a:solidFill>
            <a:srgbClr val="2E9E5B"/>
          </a:solidFill>
          <a:ln/>
        </p:spPr>
      </p:sp>
      <p:sp>
        <p:nvSpPr>
          <p:cNvPr id="15" name="Text 13"/>
          <p:cNvSpPr txBox="1"/>
          <p:nvPr/>
        </p:nvSpPr>
        <p:spPr>
          <a:xfrm>
            <a:off x="8378952" y="2080260"/>
            <a:ext cx="3087624" cy="457200"/>
          </a:xfrm>
          <a:prstGeom prst="rect">
            <a:avLst/>
          </a:prstGeom>
          <a:noFill/>
          <a:ln/>
        </p:spPr>
        <p:txBody>
          <a:bodyPr wrap="square" lIns="0" tIns="0" rIns="0" bIns="0" rtlCol="0" anchor="t"/>
          <a:lstStyle/>
          <a:p>
            <a:pPr indent="0" marL="0">
              <a:buNone/>
            </a:pPr>
            <a:r>
              <a:rPr lang="en-US" sz="1400" b="1" dirty="0">
                <a:solidFill>
                  <a:srgbClr val="1C2B3A"/>
                </a:solidFill>
              </a:rPr>
              <a:t>Builds both portfolios</a:t>
            </a:r>
            <a:endParaRPr lang="en-US" sz="1400" dirty="0"/>
          </a:p>
        </p:txBody>
      </p:sp>
      <p:sp>
        <p:nvSpPr>
          <p:cNvPr id="16" name="Text 14"/>
          <p:cNvSpPr txBox="1"/>
          <p:nvPr/>
        </p:nvSpPr>
        <p:spPr>
          <a:xfrm>
            <a:off x="8378952" y="2537460"/>
            <a:ext cx="3087624" cy="2756916"/>
          </a:xfrm>
          <a:prstGeom prst="rect">
            <a:avLst/>
          </a:prstGeom>
          <a:noFill/>
          <a:ln/>
        </p:spPr>
        <p:txBody>
          <a:bodyPr wrap="square" lIns="0" tIns="0" rIns="0" bIns="0" rtlCol="0" anchor="t"/>
          <a:lstStyle/>
          <a:p>
            <a:pPr indent="0" marL="0">
              <a:lnSpc>
                <a:spcPct val="120000"/>
              </a:lnSpc>
              <a:buNone/>
            </a:pPr>
            <a:r>
              <a:rPr lang="en-US" sz="1100" dirty="0">
                <a:solidFill>
                  <a:srgbClr val="4A5B6E"/>
                </a:solidFill>
              </a:rPr>
              <a:t>The mean-variance allocation and the behavioral layers, against the real Problem Statement 1 frontier, with commentary generated from the respondent's own answers.</a:t>
            </a:r>
            <a:endParaRPr lang="en-US" sz="1100" dirty="0"/>
          </a:p>
        </p:txBody>
      </p:sp>
      <p:sp>
        <p:nvSpPr>
          <p:cNvPr id="17" name="Shape 15"/>
          <p:cNvSpPr/>
          <p:nvPr/>
        </p:nvSpPr>
        <p:spPr>
          <a:xfrm>
            <a:off x="502920" y="5650992"/>
            <a:ext cx="11183112" cy="548640"/>
          </a:xfrm>
          <a:prstGeom prst="rect">
            <a:avLst/>
          </a:prstGeom>
          <a:solidFill>
            <a:srgbClr val="0E2235"/>
          </a:solidFill>
          <a:ln/>
        </p:spPr>
      </p:sp>
      <p:sp>
        <p:nvSpPr>
          <p:cNvPr id="18" name="Text 16"/>
          <p:cNvSpPr txBox="1"/>
          <p:nvPr/>
        </p:nvSpPr>
        <p:spPr>
          <a:xfrm>
            <a:off x="502920" y="5650992"/>
            <a:ext cx="11183112" cy="548640"/>
          </a:xfrm>
          <a:prstGeom prst="rect">
            <a:avLst/>
          </a:prstGeom>
          <a:noFill/>
          <a:ln/>
        </p:spPr>
        <p:txBody>
          <a:bodyPr wrap="square" lIns="0" tIns="0" rIns="0" bIns="0" rtlCol="0" anchor="ctr"/>
          <a:lstStyle/>
          <a:p>
            <a:pPr algn="ctr" indent="0" marL="0">
              <a:buNone/>
            </a:pPr>
            <a:r>
              <a:rPr lang="en-US" sz="1300" b="1" dirty="0">
                <a:solidFill>
                  <a:srgbClr val="FFFFFF"/>
                </a:solidFill>
              </a:rPr>
              <a:t>siddharthjaiswal05.github.io/mba_680_assignment_2</a:t>
            </a:r>
            <a:endParaRPr lang="en-US" sz="1300" dirty="0"/>
          </a:p>
        </p:txBody>
      </p:sp>
      <p:sp>
        <p:nvSpPr>
          <p:cNvPr id="20"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164592"/>
            <a:ext cx="11183112" cy="274320"/>
          </a:xfrm>
          <a:prstGeom prst="rect">
            <a:avLst/>
          </a:prstGeom>
          <a:noFill/>
          <a:ln/>
        </p:spPr>
        <p:txBody>
          <a:bodyPr wrap="square" lIns="0" tIns="0" rIns="0" bIns="0" rtlCol="0" anchor="ctr"/>
          <a:lstStyle/>
          <a:p>
            <a:pPr indent="0" marL="0">
              <a:buNone/>
            </a:pPr>
            <a:r>
              <a:rPr lang="en-US" sz="950" b="1" dirty="0">
                <a:solidFill>
                  <a:srgbClr val="00A99D"/>
                </a:solidFill>
              </a:rPr>
              <a:t>SCOPE AND CONCLUSION</a:t>
            </a:r>
            <a:endParaRPr lang="en-US" sz="950" dirty="0"/>
          </a:p>
        </p:txBody>
      </p:sp>
      <p:sp>
        <p:nvSpPr>
          <p:cNvPr id="3" name="Text 1"/>
          <p:cNvSpPr txBox="1"/>
          <p:nvPr/>
        </p:nvSpPr>
        <p:spPr>
          <a:xfrm>
            <a:off x="502920" y="475488"/>
            <a:ext cx="11183112" cy="548640"/>
          </a:xfrm>
          <a:prstGeom prst="rect">
            <a:avLst/>
          </a:prstGeom>
          <a:noFill/>
          <a:ln/>
        </p:spPr>
        <p:txBody>
          <a:bodyPr wrap="square" lIns="0" tIns="0" rIns="0" bIns="0" rtlCol="0" anchor="ctr"/>
          <a:lstStyle/>
          <a:p>
            <a:pPr indent="0" marL="0">
              <a:buNone/>
            </a:pPr>
            <a:r>
              <a:rPr lang="en-US" sz="2400" b="1" dirty="0">
                <a:solidFill>
                  <a:srgbClr val="FFFFFF"/>
                </a:solidFill>
              </a:rPr>
              <a:t>What We Established, and What Comes Next</a:t>
            </a:r>
            <a:endParaRPr lang="en-US" sz="2400" dirty="0"/>
          </a:p>
        </p:txBody>
      </p:sp>
      <p:sp>
        <p:nvSpPr>
          <p:cNvPr id="4" name="Shape 2"/>
          <p:cNvSpPr/>
          <p:nvPr/>
        </p:nvSpPr>
        <p:spPr>
          <a:xfrm>
            <a:off x="502920" y="1513332"/>
            <a:ext cx="2104949" cy="1417320"/>
          </a:xfrm>
          <a:prstGeom prst="rect">
            <a:avLst/>
          </a:prstGeom>
          <a:solidFill>
            <a:srgbClr val="F2F5F9"/>
          </a:solidFill>
          <a:ln/>
        </p:spPr>
      </p:sp>
      <p:sp>
        <p:nvSpPr>
          <p:cNvPr id="5" name="Shape 3"/>
          <p:cNvSpPr/>
          <p:nvPr/>
        </p:nvSpPr>
        <p:spPr>
          <a:xfrm>
            <a:off x="502920" y="1513332"/>
            <a:ext cx="2104949" cy="50292"/>
          </a:xfrm>
          <a:prstGeom prst="rect">
            <a:avLst/>
          </a:prstGeom>
          <a:solidFill>
            <a:srgbClr val="00A99D"/>
          </a:solidFill>
          <a:ln/>
        </p:spPr>
      </p:sp>
      <p:sp>
        <p:nvSpPr>
          <p:cNvPr id="6" name="Text 4"/>
          <p:cNvSpPr txBox="1"/>
          <p:nvPr/>
        </p:nvSpPr>
        <p:spPr>
          <a:xfrm>
            <a:off x="685800" y="1641348"/>
            <a:ext cx="1739189" cy="365760"/>
          </a:xfrm>
          <a:prstGeom prst="rect">
            <a:avLst/>
          </a:prstGeom>
          <a:noFill/>
          <a:ln/>
        </p:spPr>
        <p:txBody>
          <a:bodyPr wrap="square" lIns="0" tIns="0" rIns="0" bIns="0" rtlCol="0" anchor="t"/>
          <a:lstStyle/>
          <a:p>
            <a:pPr indent="0" marL="0">
              <a:buNone/>
            </a:pPr>
            <a:r>
              <a:rPr lang="en-US" sz="1250" b="1" dirty="0">
                <a:solidFill>
                  <a:srgbClr val="1C2B3A"/>
                </a:solidFill>
              </a:rPr>
              <a:t>Sample</a:t>
            </a:r>
            <a:endParaRPr lang="en-US" sz="1250" dirty="0"/>
          </a:p>
        </p:txBody>
      </p:sp>
      <p:sp>
        <p:nvSpPr>
          <p:cNvPr id="7" name="Text 5"/>
          <p:cNvSpPr txBox="1"/>
          <p:nvPr/>
        </p:nvSpPr>
        <p:spPr>
          <a:xfrm>
            <a:off x="685800" y="2025396"/>
            <a:ext cx="1739189" cy="795528"/>
          </a:xfrm>
          <a:prstGeom prst="rect">
            <a:avLst/>
          </a:prstGeom>
          <a:noFill/>
          <a:ln/>
        </p:spPr>
        <p:txBody>
          <a:bodyPr wrap="square" lIns="0" tIns="0" rIns="0" bIns="0" rtlCol="0" anchor="t"/>
          <a:lstStyle/>
          <a:p>
            <a:pPr indent="0" marL="0">
              <a:lnSpc>
                <a:spcPct val="118000"/>
              </a:lnSpc>
              <a:buNone/>
            </a:pPr>
            <a:r>
              <a:rPr lang="en-US" sz="950" dirty="0">
                <a:solidFill>
                  <a:srgbClr val="4A5B6E"/>
                </a:solidFill>
              </a:rPr>
              <a:t>Four respondents, so the conclusions are about the method rather than a population.</a:t>
            </a:r>
            <a:endParaRPr lang="en-US" sz="950" dirty="0"/>
          </a:p>
        </p:txBody>
      </p:sp>
      <p:sp>
        <p:nvSpPr>
          <p:cNvPr id="8" name="Shape 6"/>
          <p:cNvSpPr/>
          <p:nvPr/>
        </p:nvSpPr>
        <p:spPr>
          <a:xfrm>
            <a:off x="2772461" y="1513332"/>
            <a:ext cx="2104949" cy="1417320"/>
          </a:xfrm>
          <a:prstGeom prst="rect">
            <a:avLst/>
          </a:prstGeom>
          <a:solidFill>
            <a:srgbClr val="F2F5F9"/>
          </a:solidFill>
          <a:ln/>
        </p:spPr>
      </p:sp>
      <p:sp>
        <p:nvSpPr>
          <p:cNvPr id="9" name="Shape 7"/>
          <p:cNvSpPr/>
          <p:nvPr/>
        </p:nvSpPr>
        <p:spPr>
          <a:xfrm>
            <a:off x="2772461" y="1513332"/>
            <a:ext cx="2104949" cy="50292"/>
          </a:xfrm>
          <a:prstGeom prst="rect">
            <a:avLst/>
          </a:prstGeom>
          <a:solidFill>
            <a:srgbClr val="F0922B"/>
          </a:solidFill>
          <a:ln/>
        </p:spPr>
      </p:sp>
      <p:sp>
        <p:nvSpPr>
          <p:cNvPr id="10" name="Text 8"/>
          <p:cNvSpPr txBox="1"/>
          <p:nvPr/>
        </p:nvSpPr>
        <p:spPr>
          <a:xfrm>
            <a:off x="2955341" y="1641348"/>
            <a:ext cx="1739189" cy="365760"/>
          </a:xfrm>
          <a:prstGeom prst="rect">
            <a:avLst/>
          </a:prstGeom>
          <a:noFill/>
          <a:ln/>
        </p:spPr>
        <p:txBody>
          <a:bodyPr wrap="square" lIns="0" tIns="0" rIns="0" bIns="0" rtlCol="0" anchor="t"/>
          <a:lstStyle/>
          <a:p>
            <a:pPr indent="0" marL="0">
              <a:buNone/>
            </a:pPr>
            <a:r>
              <a:rPr lang="en-US" sz="1250" b="1" dirty="0">
                <a:solidFill>
                  <a:srgbClr val="1C2B3A"/>
                </a:solidFill>
              </a:rPr>
              <a:t>Return input</a:t>
            </a:r>
            <a:endParaRPr lang="en-US" sz="1250" dirty="0"/>
          </a:p>
        </p:txBody>
      </p:sp>
      <p:sp>
        <p:nvSpPr>
          <p:cNvPr id="11" name="Text 9"/>
          <p:cNvSpPr txBox="1"/>
          <p:nvPr/>
        </p:nvSpPr>
        <p:spPr>
          <a:xfrm>
            <a:off x="2955341" y="2025396"/>
            <a:ext cx="1739189" cy="795528"/>
          </a:xfrm>
          <a:prstGeom prst="rect">
            <a:avLst/>
          </a:prstGeom>
          <a:noFill/>
          <a:ln/>
        </p:spPr>
        <p:txBody>
          <a:bodyPr wrap="square" lIns="0" tIns="0" rIns="0" bIns="0" rtlCol="0" anchor="t"/>
          <a:lstStyle/>
          <a:p>
            <a:pPr indent="0" marL="0">
              <a:lnSpc>
                <a:spcPct val="118000"/>
              </a:lnSpc>
              <a:buNone/>
            </a:pPr>
            <a:r>
              <a:rPr lang="en-US" sz="950" dirty="0">
                <a:solidFill>
                  <a:srgbClr val="4A5B6E"/>
                </a:solidFill>
              </a:rPr>
              <a:t>The least certain input, which is why three scenarios are carried through.</a:t>
            </a:r>
            <a:endParaRPr lang="en-US" sz="950" dirty="0"/>
          </a:p>
        </p:txBody>
      </p:sp>
      <p:sp>
        <p:nvSpPr>
          <p:cNvPr id="12" name="Shape 10"/>
          <p:cNvSpPr/>
          <p:nvPr/>
        </p:nvSpPr>
        <p:spPr>
          <a:xfrm>
            <a:off x="5042002" y="1513332"/>
            <a:ext cx="2104949" cy="1417320"/>
          </a:xfrm>
          <a:prstGeom prst="rect">
            <a:avLst/>
          </a:prstGeom>
          <a:solidFill>
            <a:srgbClr val="F2F5F9"/>
          </a:solidFill>
          <a:ln/>
        </p:spPr>
      </p:sp>
      <p:sp>
        <p:nvSpPr>
          <p:cNvPr id="13" name="Shape 11"/>
          <p:cNvSpPr/>
          <p:nvPr/>
        </p:nvSpPr>
        <p:spPr>
          <a:xfrm>
            <a:off x="5042002" y="1513332"/>
            <a:ext cx="2104949" cy="50292"/>
          </a:xfrm>
          <a:prstGeom prst="rect">
            <a:avLst/>
          </a:prstGeom>
          <a:solidFill>
            <a:srgbClr val="2E9E5B"/>
          </a:solidFill>
          <a:ln/>
        </p:spPr>
      </p:sp>
      <p:sp>
        <p:nvSpPr>
          <p:cNvPr id="14" name="Text 12"/>
          <p:cNvSpPr txBox="1"/>
          <p:nvPr/>
        </p:nvSpPr>
        <p:spPr>
          <a:xfrm>
            <a:off x="5224882" y="1641348"/>
            <a:ext cx="1739189" cy="365760"/>
          </a:xfrm>
          <a:prstGeom prst="rect">
            <a:avLst/>
          </a:prstGeom>
          <a:noFill/>
          <a:ln/>
        </p:spPr>
        <p:txBody>
          <a:bodyPr wrap="square" lIns="0" tIns="0" rIns="0" bIns="0" rtlCol="0" anchor="t"/>
          <a:lstStyle/>
          <a:p>
            <a:pPr indent="0" marL="0">
              <a:buNone/>
            </a:pPr>
            <a:r>
              <a:rPr lang="en-US" sz="1250" b="1" dirty="0">
                <a:solidFill>
                  <a:srgbClr val="1C2B3A"/>
                </a:solidFill>
              </a:rPr>
              <a:t>Horizon</a:t>
            </a:r>
            <a:endParaRPr lang="en-US" sz="1250" dirty="0"/>
          </a:p>
        </p:txBody>
      </p:sp>
      <p:sp>
        <p:nvSpPr>
          <p:cNvPr id="15" name="Text 13"/>
          <p:cNvSpPr txBox="1"/>
          <p:nvPr/>
        </p:nvSpPr>
        <p:spPr>
          <a:xfrm>
            <a:off x="5224882" y="2025396"/>
            <a:ext cx="1739189" cy="795528"/>
          </a:xfrm>
          <a:prstGeom prst="rect">
            <a:avLst/>
          </a:prstGeom>
          <a:noFill/>
          <a:ln/>
        </p:spPr>
        <p:txBody>
          <a:bodyPr wrap="square" lIns="0" tIns="0" rIns="0" bIns="0" rtlCol="0" anchor="t"/>
          <a:lstStyle/>
          <a:p>
            <a:pPr indent="0" marL="0">
              <a:lnSpc>
                <a:spcPct val="118000"/>
              </a:lnSpc>
              <a:buNone/>
            </a:pPr>
            <a:r>
              <a:rPr lang="en-US" sz="950" dirty="0">
                <a:solidFill>
                  <a:srgbClr val="4A5B6E"/>
                </a:solidFill>
              </a:rPr>
              <a:t>Single-period models, before contributions, taxes and costs.</a:t>
            </a:r>
            <a:endParaRPr lang="en-US" sz="950" dirty="0"/>
          </a:p>
        </p:txBody>
      </p:sp>
      <p:sp>
        <p:nvSpPr>
          <p:cNvPr id="16" name="Shape 14"/>
          <p:cNvSpPr/>
          <p:nvPr/>
        </p:nvSpPr>
        <p:spPr>
          <a:xfrm>
            <a:off x="7311542" y="1513332"/>
            <a:ext cx="2104949" cy="1417320"/>
          </a:xfrm>
          <a:prstGeom prst="rect">
            <a:avLst/>
          </a:prstGeom>
          <a:solidFill>
            <a:srgbClr val="F2F5F9"/>
          </a:solidFill>
          <a:ln/>
        </p:spPr>
      </p:sp>
      <p:sp>
        <p:nvSpPr>
          <p:cNvPr id="17" name="Shape 15"/>
          <p:cNvSpPr/>
          <p:nvPr/>
        </p:nvSpPr>
        <p:spPr>
          <a:xfrm>
            <a:off x="7311542" y="1513332"/>
            <a:ext cx="2104949" cy="50292"/>
          </a:xfrm>
          <a:prstGeom prst="rect">
            <a:avLst/>
          </a:prstGeom>
          <a:solidFill>
            <a:srgbClr val="7B61D9"/>
          </a:solidFill>
          <a:ln/>
        </p:spPr>
      </p:sp>
      <p:sp>
        <p:nvSpPr>
          <p:cNvPr id="18" name="Text 16"/>
          <p:cNvSpPr txBox="1"/>
          <p:nvPr/>
        </p:nvSpPr>
        <p:spPr>
          <a:xfrm>
            <a:off x="7494422" y="1641348"/>
            <a:ext cx="1739189" cy="365760"/>
          </a:xfrm>
          <a:prstGeom prst="rect">
            <a:avLst/>
          </a:prstGeom>
          <a:noFill/>
          <a:ln/>
        </p:spPr>
        <p:txBody>
          <a:bodyPr wrap="square" lIns="0" tIns="0" rIns="0" bIns="0" rtlCol="0" anchor="t"/>
          <a:lstStyle/>
          <a:p>
            <a:pPr indent="0" marL="0">
              <a:buNone/>
            </a:pPr>
            <a:r>
              <a:rPr lang="en-US" sz="1250" b="1" dirty="0">
                <a:solidFill>
                  <a:srgbClr val="1C2B3A"/>
                </a:solidFill>
              </a:rPr>
              <a:t>Distribution</a:t>
            </a:r>
            <a:endParaRPr lang="en-US" sz="1250" dirty="0"/>
          </a:p>
        </p:txBody>
      </p:sp>
      <p:sp>
        <p:nvSpPr>
          <p:cNvPr id="19" name="Text 17"/>
          <p:cNvSpPr txBox="1"/>
          <p:nvPr/>
        </p:nvSpPr>
        <p:spPr>
          <a:xfrm>
            <a:off x="7494422" y="2025396"/>
            <a:ext cx="1739189" cy="795528"/>
          </a:xfrm>
          <a:prstGeom prst="rect">
            <a:avLst/>
          </a:prstGeom>
          <a:noFill/>
          <a:ln/>
        </p:spPr>
        <p:txBody>
          <a:bodyPr wrap="square" lIns="0" tIns="0" rIns="0" bIns="0" rtlCol="0" anchor="t"/>
          <a:lstStyle/>
          <a:p>
            <a:pPr indent="0" marL="0">
              <a:lnSpc>
                <a:spcPct val="118000"/>
              </a:lnSpc>
              <a:buNone/>
            </a:pPr>
            <a:r>
              <a:rPr lang="en-US" sz="950" dirty="0">
                <a:solidFill>
                  <a:srgbClr val="4A5B6E"/>
                </a:solidFill>
              </a:rPr>
              <a:t>Normality assumed, so tail figures are the optimistic end.</a:t>
            </a:r>
            <a:endParaRPr lang="en-US" sz="950" dirty="0"/>
          </a:p>
        </p:txBody>
      </p:sp>
      <p:sp>
        <p:nvSpPr>
          <p:cNvPr id="20" name="Shape 18"/>
          <p:cNvSpPr/>
          <p:nvPr/>
        </p:nvSpPr>
        <p:spPr>
          <a:xfrm>
            <a:off x="9581083" y="1513332"/>
            <a:ext cx="2104949" cy="1417320"/>
          </a:xfrm>
          <a:prstGeom prst="rect">
            <a:avLst/>
          </a:prstGeom>
          <a:solidFill>
            <a:srgbClr val="F2F5F9"/>
          </a:solidFill>
          <a:ln/>
        </p:spPr>
      </p:sp>
      <p:sp>
        <p:nvSpPr>
          <p:cNvPr id="21" name="Shape 19"/>
          <p:cNvSpPr/>
          <p:nvPr/>
        </p:nvSpPr>
        <p:spPr>
          <a:xfrm>
            <a:off x="9581083" y="1513332"/>
            <a:ext cx="2104949" cy="50292"/>
          </a:xfrm>
          <a:prstGeom prst="rect">
            <a:avLst/>
          </a:prstGeom>
          <a:solidFill>
            <a:srgbClr val="D94F4F"/>
          </a:solidFill>
          <a:ln/>
        </p:spPr>
      </p:sp>
      <p:sp>
        <p:nvSpPr>
          <p:cNvPr id="22" name="Text 20"/>
          <p:cNvSpPr txBox="1"/>
          <p:nvPr/>
        </p:nvSpPr>
        <p:spPr>
          <a:xfrm>
            <a:off x="9763963" y="1641348"/>
            <a:ext cx="1739189" cy="365760"/>
          </a:xfrm>
          <a:prstGeom prst="rect">
            <a:avLst/>
          </a:prstGeom>
          <a:noFill/>
          <a:ln/>
        </p:spPr>
        <p:txBody>
          <a:bodyPr wrap="square" lIns="0" tIns="0" rIns="0" bIns="0" rtlCol="0" anchor="t"/>
          <a:lstStyle/>
          <a:p>
            <a:pPr indent="0" marL="0">
              <a:buNone/>
            </a:pPr>
            <a:r>
              <a:rPr lang="en-US" sz="1250" b="1" dirty="0">
                <a:solidFill>
                  <a:srgbClr val="1C2B3A"/>
                </a:solidFill>
              </a:rPr>
              <a:t>Universe</a:t>
            </a:r>
            <a:endParaRPr lang="en-US" sz="1250" dirty="0"/>
          </a:p>
        </p:txBody>
      </p:sp>
      <p:sp>
        <p:nvSpPr>
          <p:cNvPr id="23" name="Text 21"/>
          <p:cNvSpPr txBox="1"/>
          <p:nvPr/>
        </p:nvSpPr>
        <p:spPr>
          <a:xfrm>
            <a:off x="9763963" y="2025396"/>
            <a:ext cx="1739189" cy="795528"/>
          </a:xfrm>
          <a:prstGeom prst="rect">
            <a:avLst/>
          </a:prstGeom>
          <a:noFill/>
          <a:ln/>
        </p:spPr>
        <p:txBody>
          <a:bodyPr wrap="square" lIns="0" tIns="0" rIns="0" bIns="0" rtlCol="0" anchor="t"/>
          <a:lstStyle/>
          <a:p>
            <a:pPr indent="0" marL="0">
              <a:lnSpc>
                <a:spcPct val="118000"/>
              </a:lnSpc>
              <a:buNone/>
            </a:pPr>
            <a:r>
              <a:rPr lang="en-US" sz="950" dirty="0">
                <a:solidFill>
                  <a:srgbClr val="4A5B6E"/>
                </a:solidFill>
              </a:rPr>
              <a:t>Current index membership, inherited from Problem Statement 1.</a:t>
            </a:r>
            <a:endParaRPr lang="en-US" sz="950" dirty="0"/>
          </a:p>
        </p:txBody>
      </p:sp>
      <p:sp>
        <p:nvSpPr>
          <p:cNvPr id="24" name="Text 22"/>
          <p:cNvSpPr txBox="1"/>
          <p:nvPr/>
        </p:nvSpPr>
        <p:spPr>
          <a:xfrm>
            <a:off x="502920" y="3314700"/>
            <a:ext cx="11183112" cy="1645920"/>
          </a:xfrm>
          <a:prstGeom prst="rect">
            <a:avLst/>
          </a:prstGeom>
          <a:noFill/>
          <a:ln/>
        </p:spPr>
        <p:txBody>
          <a:bodyPr wrap="square" lIns="0" tIns="0" rIns="0" bIns="0" rtlCol="0" anchor="t"/>
          <a:lstStyle/>
          <a:p>
            <a:pPr marL="342900" indent="-342900">
              <a:lnSpc>
                <a:spcPct val="120000"/>
              </a:lnSpc>
              <a:spcAft>
                <a:spcPts val="700"/>
              </a:spcAft>
              <a:buSzPct val="100000"/>
              <a:buChar char="■"/>
            </a:pPr>
            <a:r>
              <a:rPr lang="en-US" sz="1100" dirty="0">
                <a:solidFill>
                  <a:srgbClr val="1C2B3A"/>
                </a:solidFill>
              </a:rPr>
              <a:t>Every one of the six steps is traceable to the exact question that produced it, and every number in this deck is computed from a submitted answer.</a:t>
            </a:r>
            <a:endParaRPr lang="en-US" sz="1100" dirty="0"/>
          </a:p>
          <a:p>
            <a:pPr marL="342900" indent="-342900">
              <a:lnSpc>
                <a:spcPct val="120000"/>
              </a:lnSpc>
              <a:spcAft>
                <a:spcPts val="700"/>
              </a:spcAft>
              <a:buSzPct val="100000"/>
              <a:buChar char="■"/>
            </a:pPr>
            <a:r>
              <a:rPr lang="en-US" sz="1100" dirty="0">
                <a:solidFill>
                  <a:srgbClr val="1C2B3A"/>
                </a:solidFill>
              </a:rPr>
              <a:t>Risk aversion is measured from the utility curve, and the ladder is read as the pattern it genuinely reveals.</a:t>
            </a:r>
            <a:endParaRPr lang="en-US" sz="1100" dirty="0"/>
          </a:p>
          <a:p>
            <a:pPr marL="342900" indent="-342900">
              <a:lnSpc>
                <a:spcPct val="120000"/>
              </a:lnSpc>
              <a:spcAft>
                <a:spcPts val="700"/>
              </a:spcAft>
              <a:buSzPct val="100000"/>
              <a:buChar char="■"/>
            </a:pPr>
            <a:r>
              <a:rPr lang="en-US" sz="1100" dirty="0">
                <a:solidFill>
                  <a:srgbClr val="1C2B3A"/>
                </a:solidFill>
              </a:rPr>
              <a:t>Seven added questions complete the behavioral portfolio, and they are already live in the portal.</a:t>
            </a:r>
            <a:endParaRPr lang="en-US" sz="1100" dirty="0"/>
          </a:p>
          <a:p>
            <a:pPr marL="342900" indent="-342900">
              <a:lnSpc>
                <a:spcPct val="120000"/>
              </a:lnSpc>
              <a:spcAft>
                <a:spcPts val="700"/>
              </a:spcAft>
              <a:buSzPct val="100000"/>
              <a:buChar char="■"/>
            </a:pPr>
            <a:r>
              <a:rPr lang="en-US" sz="1100" dirty="0">
                <a:solidFill>
                  <a:srgbClr val="1C2B3A"/>
                </a:solidFill>
              </a:rPr>
              <a:t>The next pass collects those answers and re-elicits two respondents, which closes out Steps 4 and 5 for the full group.</a:t>
            </a:r>
            <a:endParaRPr lang="en-US" sz="1100" dirty="0"/>
          </a:p>
        </p:txBody>
      </p:sp>
      <p:sp>
        <p:nvSpPr>
          <p:cNvPr id="25" name="Shape 23"/>
          <p:cNvSpPr/>
          <p:nvPr/>
        </p:nvSpPr>
        <p:spPr>
          <a:xfrm>
            <a:off x="502920" y="5577840"/>
            <a:ext cx="11183112" cy="566928"/>
          </a:xfrm>
          <a:prstGeom prst="rect">
            <a:avLst/>
          </a:prstGeom>
          <a:solidFill>
            <a:srgbClr val="0E2235"/>
          </a:solidFill>
          <a:ln/>
        </p:spPr>
      </p:sp>
      <p:sp>
        <p:nvSpPr>
          <p:cNvPr id="26" name="Text 24"/>
          <p:cNvSpPr txBox="1"/>
          <p:nvPr/>
        </p:nvSpPr>
        <p:spPr>
          <a:xfrm>
            <a:off x="502920" y="5577840"/>
            <a:ext cx="11183112" cy="566928"/>
          </a:xfrm>
          <a:prstGeom prst="rect">
            <a:avLst/>
          </a:prstGeom>
          <a:noFill/>
          <a:ln/>
        </p:spPr>
        <p:txBody>
          <a:bodyPr wrap="square" lIns="0" tIns="0" rIns="0" bIns="0" rtlCol="0" anchor="ctr"/>
          <a:lstStyle/>
          <a:p>
            <a:pPr algn="ctr" indent="0" marL="0">
              <a:buNone/>
            </a:pPr>
            <a:r>
              <a:rPr lang="en-US" sz="1350" b="1" dirty="0">
                <a:solidFill>
                  <a:srgbClr val="FFFFFF"/>
                </a:solidFill>
              </a:rPr>
              <a:t>Measure what the data supports, and extend the instrument where it does not.</a:t>
            </a:r>
            <a:endParaRPr lang="en-US" sz="1350" dirty="0"/>
          </a:p>
        </p:txBody>
      </p:sp>
      <p:sp>
        <p:nvSpPr>
          <p:cNvPr id="28" name="Text 3"/>
          <p:cNvSpPr/>
          <p:nvPr>
            <p:ph idx="103" hasCustomPrompt="1"/>
          </p:nvPr>
        </p:nvSpPr>
        <p:spPr>
          <a:xfrm>
            <a:off x="10588752" y="6473952"/>
            <a:ext cx="1097280" cy="237744"/>
          </a:xfrm>
          <a:prstGeom prst="rect">
            <a:avLst/>
          </a:prstGeom>
          <a:noFill/>
          <a:ln/>
        </p:spPr>
        <p:txBody>
          <a:bodyPr wrap="square" rtlCol="0"/>
          <a:lstStyle/>
          <a:p>
            <a:pPr algn="r" indent="0" marL="0">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IIT Kanpur, MBA680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MBA680 Personal Investment Advisor and Robo-Advisory Project</dc:title>
  <dc:subject>PptxGenJS Presentation</dc:subject>
  <dc:creator>Abhinav Raj, Chhitij Nigam, Raghav Patidar, Siddharth Jaiswal</dc:creator>
  <cp:lastModifiedBy>Abhinav Raj, Chhitij Nigam, Raghav Patidar, Siddharth Jaiswal</cp:lastModifiedBy>
  <cp:revision>1</cp:revision>
  <dcterms:created xsi:type="dcterms:W3CDTF">2026-10-06T04:04:14Z</dcterms:created>
  <dcterms:modified xsi:type="dcterms:W3CDTF">2026-10-06T04:04:14Z</dcterms:modified>
</cp:coreProperties>
</file>